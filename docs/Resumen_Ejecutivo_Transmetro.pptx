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3487d04e-eae2-3960-c4eb-a144d5b29d74}">
          <p14:sldIdLst>
            <p14:sldId id="256"/>
            <p14:sldId id="257"/>
            <p14:sldId id="258"/>
          </p14:sldIdLst>
        </p14:section>
        <p14:section name="Solución" id="{a2addbcc-9fdc-9025-34bf-6c55c19af7eb}">
          <p14:sldIdLst>
            <p14:sldId id="259"/>
            <p14:sldId id="260"/>
            <p14:sldId id="261"/>
            <p14:sldId id="262"/>
            <p14:sldId id="263"/>
          </p14:sldIdLst>
        </p14:section>
        <p14:section name="Calidad" id="{a7507feb-8b1c-9580-16e6-1956d674d47d}">
          <p14:sldIdLst>
            <p14:sldId id="264"/>
            <p14:sldId id="265"/>
            <p14:sldId id="266"/>
          </p14:sldIdLst>
        </p14:section>
        <p14:section name="Cierre" id="{5a75fea2-0eb4-8beb-4aff-cd4561a918a9}">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333"/>
                </a:solidFill>
                <a:latin typeface="+mn-lt"/>
              </a:defRPr>
            </a:pPr>
            <a:r>
              <a:rPr sz="1600" b="0" i="0" u="none" strike="noStrike">
                <a:solidFill>
                  <a:srgbClr val="1F2333"/>
                </a:solidFill>
                <a:latin typeface="+mn-lt"/>
              </a:rPr>
              <a:t>60 casos del plan</a:t>
            </a:r>
          </a:p>
        </c:rich>
      </c:tx>
      <c:layout/>
      <c:overlay val="0"/>
    </c:title>
    <c:autoTitleDeleted val="0"/>
    <c:plotArea>
      <c:layout/>
      <c:doughnutChart>
        <c:varyColors val="1"/>
        <c:ser>
          <c:idx val="0"/>
          <c:order val="0"/>
          <c:tx>
            <c:strRef>
              <c:f>Sheet1!$B$1</c:f>
              <c:strCache>
                <c:ptCount val="1"/>
                <c:pt idx="0">
                  <c:v>Casos</c:v>
                </c:pt>
              </c:strCache>
            </c:strRef>
          </c:tx>
          <c:spPr>
            <a:solidFill>
              <a:schemeClr val="accent1"/>
            </a:solidFill>
            <a:ln w="9525" cap="flat">
              <a:solidFill>
                <a:srgbClr val="F9F9F9"/>
              </a:solidFill>
              <a:prstDash val="solid"/>
              <a:round/>
            </a:ln>
            <a:effectLst/>
          </c:spPr>
          <c:dPt>
            <c:idx val="0"/>
            <c:bubble3D val="0"/>
            <c:spPr>
              <a:solidFill>
                <a:srgbClr val="6CC24A"/>
              </a:solidFill>
              <a:effectLst/>
            </c:spPr>
          </c:dPt>
          <c:dPt>
            <c:idx val="1"/>
            <c:bubble3D val="0"/>
            <c:spPr>
              <a:solidFill>
                <a:srgbClr val="B42318"/>
              </a:solidFill>
              <a:effectLst/>
            </c:spPr>
          </c:dPt>
          <c:dPt>
            <c:idx val="2"/>
            <c:bubble3D val="0"/>
            <c:spPr>
              <a:solidFill>
                <a:srgbClr val="C9CED8"/>
              </a:solidFill>
              <a:effectLst/>
            </c:spPr>
          </c:dPt>
          <c:dLbls>
            <c:dLbl>
              <c:idx val="0"/>
              <c:numFmt formatCode="General" sourceLinked="0"/>
              <c:spPr/>
              <c:txPr>
                <a:bodyPr/>
                <a:lstStyle/>
                <a:p>
                  <a:pPr>
                    <a:defRPr sz="1400" b="0"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400" b="0"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400" b="0"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Aprobados</c:v>
                </c:pt>
                <c:pt idx="1">
                  <c:v>Fallido</c:v>
                </c:pt>
                <c:pt idx="2">
                  <c:v>Pendientes</c:v>
                </c:pt>
              </c:strCache>
            </c:strRef>
          </c:cat>
          <c:val>
            <c:numRef>
              <c:f>Sheet1!$B$2:$B$4</c:f>
              <c:numCache>
                <c:ptCount val="3"/>
                <c:pt idx="0">
                  <c:v>54</c:v>
                </c:pt>
                <c:pt idx="1">
                  <c:v>1</c:v>
                </c:pt>
                <c:pt idx="2">
                  <c:v>5</c:v>
                </c:pt>
              </c:numCache>
            </c:numRef>
          </c:val>
        </c:ser>
        <c:firstSliceAng val="0"/>
        <c:holeSize val="58"/>
      </c:doughnutChart>
      <c:spPr>
        <a:noFill/>
        <a:ln>
          <a:noFill/>
        </a:ln>
        <a:effectLst/>
      </c:spPr>
    </c:plotArea>
    <c:legend>
      <c:legendPos val="b"/>
      <c:overlay val="0"/>
      <c:txPr>
        <a:bodyPr/>
        <a:lstStyle/>
        <a:p>
          <a:pPr>
            <a:defRPr sz="1300">
              <a:solidFill>
                <a:srgbClr val="1F2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333"/>
                </a:solidFill>
                <a:latin typeface="+mn-lt"/>
              </a:defRPr>
            </a:pPr>
            <a:r>
              <a:rPr sz="1600" b="0" i="0" u="none" strike="noStrike">
                <a:solidFill>
                  <a:srgbClr val="1F2333"/>
                </a:solidFill>
                <a:latin typeface="+mn-lt"/>
              </a:rPr>
              <a:t>8 defectos por severidad</a:t>
            </a:r>
          </a:p>
        </c:rich>
      </c:tx>
      <c:layout/>
      <c:overlay val="0"/>
    </c:title>
    <c:autoTitleDeleted val="0"/>
    <c:plotArea>
      <c:layout/>
      <c:barChart>
        <c:barDir val="col"/>
        <c:grouping val="stacked"/>
        <c:varyColors val="0"/>
        <c:ser>
          <c:idx val="0"/>
          <c:order val="0"/>
          <c:tx>
            <c:strRef>
              <c:f>Sheet1!$B$1</c:f>
              <c:strCache>
                <c:ptCount val="1"/>
                <c:pt idx="0">
                  <c:v>Cerrados</c:v>
                </c:pt>
              </c:strCache>
            </c:strRef>
          </c:tx>
          <c:spPr>
            <a:solidFill>
              <a:srgbClr val="6CC24A"/>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Alta</c:v>
                  </c:pt>
                  <c:pt idx="1">
                    <c:v>Media</c:v>
                  </c:pt>
                  <c:pt idx="2">
                    <c:v>Baja</c:v>
                  </c:pt>
                </c:lvl>
              </c:multiLvlStrCache>
            </c:multiLvlStrRef>
          </c:cat>
          <c:val>
            <c:numRef>
              <c:f>Sheet1!$B$2:$B$4</c:f>
              <c:numCache>
                <c:formatCode>General</c:formatCode>
                <c:ptCount val="3"/>
                <c:pt idx="0">
                  <c:v>3</c:v>
                </c:pt>
                <c:pt idx="1">
                  <c:v>2</c:v>
                </c:pt>
                <c:pt idx="2">
                  <c:v>1</c:v>
                </c:pt>
              </c:numCache>
            </c:numRef>
          </c:val>
        </c:ser>
        <c:ser>
          <c:idx val="1"/>
          <c:order val="1"/>
          <c:tx>
            <c:strRef>
              <c:f>Sheet1!$C$1</c:f>
              <c:strCache>
                <c:ptCount val="1"/>
                <c:pt idx="0">
                  <c:v>Abiertos</c:v>
                </c:pt>
              </c:strCache>
            </c:strRef>
          </c:tx>
          <c:spPr>
            <a:solidFill>
              <a:srgbClr val="B42318"/>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Alta</c:v>
                  </c:pt>
                  <c:pt idx="1">
                    <c:v>Media</c:v>
                  </c:pt>
                  <c:pt idx="2">
                    <c:v>Baja</c:v>
                  </c:pt>
                </c:lvl>
              </c:multiLvlStrCache>
            </c:multiLvlStrRef>
          </c:cat>
          <c:val>
            <c:numRef>
              <c:f>Sheet1!$C$2:$C$4</c:f>
              <c:numCache>
                <c:formatCode>General</c:formatCode>
                <c:ptCount val="3"/>
                <c:pt idx="0">
                  <c:v>1</c:v>
                </c:pt>
                <c:pt idx="1">
                  <c:v>1</c:v>
                </c:pt>
                <c:pt idx="2">
                  <c:v>0</c:v>
                </c:pt>
              </c:numCache>
            </c:numRef>
          </c:val>
        </c:ser>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A4F63"/>
                </a:solidFill>
                <a:latin typeface="+mn-lt"/>
              </a:defRPr>
            </a:pPr>
            <a:endParaRPr lang="en-US"/>
          </a:p>
        </c:txPr>
        <c:crossAx val="2094734552"/>
        <c:crosses val="autoZero"/>
        <c:auto val="1"/>
        <c:lblAlgn val="ctr"/>
        <c:noMultiLvlLbl val="1"/>
      </c:catAx>
      <c:valAx>
        <c:axId val="2094734552"/>
        <c:scaling>
          <c:orientation val="minMax"/>
          <c:max val="4"/>
        </c:scaling>
        <c:delete val="0"/>
        <c:axPos val="l"/>
        <c:majorGridlines>
          <c:spPr>
            <a:ln w="6350" cap="flat">
              <a:solidFill>
                <a:srgbClr val="E3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4F63"/>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300">
              <a:solidFill>
                <a:srgbClr val="1F2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333"/>
                </a:solidFill>
                <a:latin typeface="+mn-lt"/>
              </a:defRPr>
            </a:pPr>
            <a:r>
              <a:rPr sz="1600" b="0" i="0" u="none" strike="noStrike">
                <a:solidFill>
                  <a:srgbClr val="1F2333"/>
                </a:solidFill>
                <a:latin typeface="+mn-lt"/>
              </a:rPr>
              <a:t>Desglose en miles de quetzales</a:t>
            </a:r>
          </a:p>
        </c:rich>
      </c:tx>
      <c:layout/>
      <c:overlay val="0"/>
    </c:title>
    <c:autoTitleDeleted val="0"/>
    <c:plotArea>
      <c:layout/>
      <c:barChart>
        <c:barDir val="bar"/>
        <c:grouping val="clustered"/>
        <c:varyColors val="0"/>
        <c:ser>
          <c:idx val="0"/>
          <c:order val="0"/>
          <c:tx>
            <c:strRef>
              <c:f>Sheet1!$B$1</c:f>
              <c:strCache>
                <c:ptCount val="1"/>
                <c:pt idx="0">
                  <c:v>Inversión (miles de Q)</c:v>
                </c:pt>
              </c:strCache>
            </c:strRef>
          </c:tx>
          <c:spPr>
            <a:solidFill>
              <a:srgbClr val="10069F"/>
            </a:solidFill>
            <a:effectLst/>
          </c:spPr>
          <c:invertIfNegative val="0"/>
          <c:dLbls>
            <c:numFmt formatCode="#,##0" sourceLinked="0"/>
            <c:txPr>
              <a:bodyPr/>
              <a:lstStyle/>
              <a:p>
                <a:pPr>
                  <a:defRPr b="0" i="0" strike="noStrike" sz="1200" u="none">
                    <a:solidFill>
                      <a:srgbClr val="1F2333"/>
                    </a:solidFill>
                    <a:latin typeface="+mn-lt"/>
                  </a:defRPr>
                </a:pPr>
              </a:p>
            </c:txPr>
            <c:showLegendKey val="0"/>
            <c:showVal val="1"/>
            <c:showCatName val="0"/>
            <c:showSerName val="0"/>
            <c:showPercent val="0"/>
            <c:showBubbleSize val="0"/>
            <c:showLeaderLines val="0"/>
          </c:dLbls>
          <c:cat>
            <c:multiLvlStrRef>
              <c:f>Sheet1!$A$2:$A$8</c:f>
              <c:multiLvlStrCache>
                <c:ptCount val="7"/>
                <c:lvl>
                  <c:pt idx="0">
                    <c:v>Hardware por estación</c:v>
                  </c:pt>
                  <c:pt idx="1">
                    <c:v>Desarrollo de software</c:v>
                  </c:pt>
                  <c:pt idx="2">
                    <c:v>GPS / AVL</c:v>
                  </c:pt>
                  <c:pt idx="3">
                    <c:v>Soporte y mantenimiento</c:v>
                  </c:pt>
                  <c:pt idx="4">
                    <c:v>Integración de recaudo</c:v>
                  </c:pt>
                  <c:pt idx="5">
                    <c:v>Infraestructura y hosting</c:v>
                  </c:pt>
                  <c:pt idx="6">
                    <c:v>Otros rubros</c:v>
                  </c:pt>
                </c:lvl>
              </c:multiLvlStrCache>
            </c:multiLvlStrRef>
          </c:cat>
          <c:val>
            <c:numRef>
              <c:f>Sheet1!$B$2:$B$8</c:f>
              <c:numCache>
                <c:formatCode>General</c:formatCode>
                <c:ptCount val="7"/>
                <c:pt idx="0">
                  <c:v>375</c:v>
                </c:pt>
                <c:pt idx="1">
                  <c:v>340</c:v>
                </c:pt>
                <c:pt idx="2">
                  <c:v>168</c:v>
                </c:pt>
                <c:pt idx="3">
                  <c:v>96</c:v>
                </c:pt>
                <c:pt idx="4">
                  <c:v>85</c:v>
                </c:pt>
                <c:pt idx="5">
                  <c:v>65</c:v>
                </c:pt>
                <c:pt idx="6">
                  <c:v>185</c:v>
                </c:pt>
              </c:numCache>
            </c:numRef>
          </c:val>
        </c:ser>
        <c:dLbls>
          <c:numFmt formatCode="#,##0" sourceLinked="0"/>
          <c:txPr>
            <a:bodyPr/>
            <a:lstStyle/>
            <a:p>
              <a:pPr>
                <a:defRPr b="0" i="0" strike="noStrike" sz="1200" u="none">
                  <a:solidFill>
                    <a:srgbClr val="1F2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4F63"/>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6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4F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Les presento el proyecto Sistema de Control de Líneas, Estaciones y Buses del Transmetro, desarrollado para el curso de Aseguramiento de la Calidad del Software. En los próximos minutos les mostraré qué problema resuelve, cómo está construido, cómo verificamos su calidad con el plan de pruebas y cuáles son los resultados y el trabajo 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Transmetro atraviesa varias municipalidades: Guatemala, Mixco, Villa Nueva, San José Pinula y Santa Catarina Pinula. Cada una necesita administrar líneas, estaciones, buses, pilotos y el recaudo, pero no existía un registro común ni un monitoreo en tiempo real. La solución es una aplicación web con tres caras: una pantalla pública para el ciudadano, un portal para el pasajero con su tarjeta y un panel para el personal, donde cada rol ve solo lo que le corresponde.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números principales. Las 103 pruebas automáticas aprueban. De los 60 casos del plan de pruebas ejecutamos 55, con 98.2 por ciento de éxito. La cobertura de código del backend es de 93.7 por ciento, y en los servicios que tienen las reglas de negocio llega al 100. Las posiciones de los buses llegan al centro de control en 7 milisegundos en el percentil 95, muy por debajo de la meta de 2 segundos. El sistema maneja 4 líneas, 14 estaciones y 21 buses de demostración, y está publicado en la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Partimos de 12 requerimientos funcionales y 7 no funcionales. Once están completos, entre ellos la regla de que cada línea tenga entre N y 2N buses, el historial de asignaciones y el tiempo real. Siete están parciales: el software está listo, pero falta integrar hardware o un proveedor externo, como los GPS físicos, las cámaras o la pasarela de pago real, o terminar configuraciones como el respaldo programado. La operación sin conexión de las estaciones quedó para una fase 2, aunque su base, que los cobros no se dupliquen, ya está construida.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es cliente-servidor en tres capas. En el navegador corre una aplicación de una sola página en React. El servidor es una API REST en Node.js con Express y TypeScript, donde las reglas de negocio están aisladas en una capa de servicios, y Socket.IO empuja en vivo las posiciones de los buses, las alertas y el botón de pánico. Los datos están en PostgreSQL, al que accedemos con el ORM Sequelize. En producción, un solo servicio en Render entrega la página y la API, y la base de datos está en Neon.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reglas más importantes del enunciado y cómo las garantizamos. La primera: cada línea debe tener entre N y 2N buses, donde N es su número de estaciones; se valida dentro de una transacción que bloquea la línea, así ni siquiera dos operadores al mismo tiempo pueden romperla. La segunda: si los pasajeros en espera llegan al 150 por ciento de la capacidad del bus, se genera una alerta para despachar otra unidad, y si el bus va a menos del 25 por ciento, se indica esperar 5 minutos. La tercera: el cobro es atómico e idempotente. Y además, un bus nunca queda sin parqueo y cada cambio queda en un historial de auditoría.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seguridad se incorporó desde el diseño, como recomendó el estudio de factibilidad legal. Las contraseñas se guardan con bcrypt. La sesión usa un token JWT y cada ruta verifica el rol y el alcance: un operador solo opera su estación y el personal municipal solo ve su municipalidad. El DPI y el NIT de los pasajeros se guardan cifrados con AES-256 y en pantalla solo se ven los últimos cuatro dígitos. Además, todo dato que entra se valida con Zod, y hay cabeceras de seguridad y un límite de intentos por dirección 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se ven algunas pantallas. El tablero de control muestra los buses asignados por línea frente al mínimo y al máximo permitidos, y los puntos que requieren atención. En alertas se registran el sobrecupo y la espera adicional en tiempo real. El detalle de la Línea 4 muestra el recorrido ordenado con la distancia de cada tramo. Y finanzas muestra el flujo de caja con datos de demostración. En el video recorro estas pantallas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núcleo del curso: el aseguramiento de la calidad. El plan de pruebas define 60 casos trazables a los 19 requerimientos. Ejecutamos 55: 48 con pruebas automáticas en Jest y Supertest, que corren contra una base de datos real, y 7 con scripts, como la medición de latencia y la prueba de respaldo y restauración. 54 aprobaron y uno falló: el análisis de dependencias todavía reporta una vulnerabilidad alta en la librería zod, que requiere una actualización mayor. Quedan 5 pendientes, principalmente la prueba de carga con k6 y la documentación OpenAPI.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Comparamos las métricas que definimos en el documento del stack con lo obtenido. Cumplimos la tasa de éxito, la cobertura de código, la latencia del tiempo real, el tiempo de respuesta de la API y cero defectos críticos abiertos. No cumplimos tres: la cobertura de requerimientos llega a 89 por ciento porque faltan las pruebas de crecimiento y de integración futura; queda una vulnerabilidad alta abierta, y la densidad de defectos es de 1.5 por cada mil líneas, por encima de la meta. Preferimos reportarlo con transparencia: es exactamente lo que el aseguramiento de la calidad debe mostrar.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Durante el ciclo de pruebas encontramos 8 defectos y los gestionamos según la severidad definida en el plan. Seis están cerrados. Dos ejemplos importantes: en producción el mapa aparecía bloqueado porque nuestras cabeceras de seguridad quitaban el Referer que OpenStreetMap exige, y el administrador no podía entrar si la base ya tenía usuarios. Los dos abiertos son vulnerabilidades de dependencias que requieren actualizaciones mayores y están en el trabajo 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cuanto a la factibilidad, el estudio evaluó cinco dimensiones: técnica, operativa, económica, legal y ambiental, y todas resultaron favorables. La propuesta monetaria para una fase piloto de 3 líneas, 25 estaciones y 60 buses suma un millón 314 mil quetzales, unos 168 mil 500 dólares. Los rubros más grandes son el hardware de las estaciones y el desarrollo del software. Como supera el umbral de cotización de la Ley de Contrataciones del Estado, se recomienda una licitación pública o contratar por fases.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próximos pasos: implementar la operación sin conexión de las estaciones, integrar el hardware real y la pasarela de pago, ejecutar las pruebas de carga con k6 y de extremo a extremo con Playwright, automatizar la calidad con GitHub Actions y SonarQube, documentar la API con OpenAPI y cerrar las vulnerabilidades pendientes.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resumen, el sistema unifica a las municipalidades, hace cumplir las reglas de operación, monitorea en tiempo real y atiende al ciudadano, con una calidad verificada y medida. El código, los scripts de base de datos y la documentación están en el repositorio de GitHub, y la aplicación está publicada en la nube.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868680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8686800" cy="822960"/>
          </a:xfrm>
          <a:prstGeom prst="rect">
            <a:avLst/>
          </a:prstGeom>
          <a:noFill/>
          <a:ln/>
        </p:spPr>
        <p:txBody>
          <a:bodyPr wrap="square" rtlCol="0"/>
          <a:lstStyle>
            <a:lvl1pPr algn="l" indent="0" marL="0">
              <a:buNone/>
              <a:defRPr lang="en-US" sz="2000" dirty="0">
                <a:solidFill>
                  <a:schemeClr val="accent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rgbClr val="6B7085"/>
                </a:solidFill>
              </a:rPr>
              <a:t>Transmetro · Resumen ejecutivo</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ernesto615/Transmetro" TargetMode="External"/><Relationship Id="rId4" Type="http://schemas.openxmlformats.org/officeDocument/2006/relationships/hyperlink" Target="https://transmetro-glvg.onrender.com" TargetMode="External"/><Relationship Id="rId1" Type="http://schemas.openxmlformats.org/officeDocument/2006/relationships/image" Target="../media/image-14-1.png"/><Relationship Id="rId3" Type="http://schemas.openxmlformats.org/officeDocument/2006/relationships/image" Target="../media/image-14-2.png"/><Relationship Id="rId5" Type="http://schemas.openxmlformats.org/officeDocument/2006/relationships/image" Target="../media/image-14-3.png"/><Relationship Id="rId6" Type="http://schemas.openxmlformats.org/officeDocument/2006/relationships/slideLayout" Target="../slideLayouts/slideLayout4.xml"/><Relationship Id="rId7"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fondo-logo"/>
          <p:cNvSpPr/>
          <p:nvPr/>
        </p:nvSpPr>
        <p:spPr>
          <a:xfrm>
            <a:off x="731520" y="640080"/>
            <a:ext cx="3931920" cy="868680"/>
          </a:xfrm>
          <a:prstGeom prst="roundRect">
            <a:avLst>
              <a:gd name="adj" fmla="val 10526"/>
            </a:avLst>
          </a:prstGeom>
          <a:solidFill>
            <a:srgbClr val="FFFFFF"/>
          </a:solidFill>
          <a:ln w="12700">
            <a:solidFill>
              <a:srgbClr val="FFFFFF"/>
            </a:solidFill>
            <a:prstDash val="solid"/>
          </a:ln>
        </p:spPr>
      </p:sp>
      <p:pic>
        <p:nvPicPr>
          <p:cNvPr id="3" name="logo" descr="Logo Transmetro">    </p:cNvPr>
          <p:cNvPicPr>
            <a:picLocks noChangeAspect="1"/>
          </p:cNvPicPr>
          <p:nvPr/>
        </p:nvPicPr>
        <p:blipFill>
          <a:blip r:embed="rId1"/>
          <a:stretch>
            <a:fillRect/>
          </a:stretch>
        </p:blipFill>
        <p:spPr>
          <a:xfrm>
            <a:off x="896112" y="749808"/>
            <a:ext cx="3602736" cy="566928"/>
          </a:xfrm>
          <a:prstGeom prst="rect">
            <a:avLst/>
          </a:prstGeom>
        </p:spPr>
      </p:pic>
      <p:sp>
        <p:nvSpPr>
          <p:cNvPr id="4" name="Text 0"/>
          <p:cNvSpPr/>
          <p:nvPr>
            <p:ph idx="100" type="title" hasCustomPrompt="1"/>
          </p:nvPr>
        </p:nvSpPr>
        <p:spPr>
          <a:xfrm>
            <a:off x="731520" y="2103120"/>
            <a:ext cx="8686800" cy="1463040"/>
          </a:xfrm>
          <a:prstGeom prst="rect">
            <a:avLst/>
          </a:prstGeom>
          <a:noFill/>
          <a:ln/>
        </p:spPr>
        <p:txBody>
          <a:bodyPr wrap="square" lIns="0" tIns="0" rIns="0" bIns="0" rtlCol="0" anchor="t"/>
          <a:lstStyle/>
          <a:p>
            <a:pPr algn="l" indent="0" marL="0">
              <a:buNone/>
            </a:pPr>
            <a:r>
              <a:rPr lang="en-US" sz="4400" b="1" dirty="0">
                <a:solidFill>
                  <a:schemeClr val="bg1"/>
                </a:solidFill>
              </a:rPr>
              <a:t>Sistema de Control de Líneas, Estaciones y Buses</a:t>
            </a:r>
            <a:endParaRPr lang="en-US" sz="4400" dirty="0"/>
          </a:p>
        </p:txBody>
      </p:sp>
      <p:sp>
        <p:nvSpPr>
          <p:cNvPr id="5" name="Text 0"/>
          <p:cNvSpPr/>
          <p:nvPr>
            <p:ph idx="101" type="body" hasCustomPrompt="1"/>
          </p:nvPr>
        </p:nvSpPr>
        <p:spPr>
          <a:xfrm>
            <a:off x="731520" y="3657600"/>
            <a:ext cx="8686800" cy="822960"/>
          </a:xfrm>
          <a:prstGeom prst="rect">
            <a:avLst/>
          </a:prstGeom>
          <a:noFill/>
          <a:ln/>
        </p:spPr>
        <p:txBody>
          <a:bodyPr wrap="square" lIns="0" tIns="0" rIns="0" bIns="0" rtlCol="0" anchor="t"/>
          <a:lstStyle/>
          <a:p>
            <a:pPr algn="l" indent="0" marL="0">
              <a:buNone/>
            </a:pPr>
            <a:r>
              <a:rPr lang="en-US" sz="2000" dirty="0">
                <a:solidFill>
                  <a:schemeClr val="accent2"/>
                </a:solidFill>
              </a:rPr>
              <a:t>Resumen ejecutivo del proyecto</a:t>
            </a:r>
            <a:endParaRPr lang="en-US" sz="2000" dirty="0"/>
          </a:p>
        </p:txBody>
      </p:sp>
      <p:sp>
        <p:nvSpPr>
          <p:cNvPr id="6" name="autor"/>
          <p:cNvSpPr txBox="1"/>
          <p:nvPr/>
        </p:nvSpPr>
        <p:spPr>
          <a:xfrm>
            <a:off x="731520" y="4937760"/>
            <a:ext cx="10058400" cy="1097280"/>
          </a:xfrm>
          <a:prstGeom prst="rect">
            <a:avLst/>
          </a:prstGeom>
          <a:noFill/>
          <a:ln/>
        </p:spPr>
        <p:txBody>
          <a:bodyPr wrap="square" lIns="0" tIns="0" rIns="0" bIns="0" rtlCol="0" anchor="t"/>
          <a:lstStyle/>
          <a:p>
            <a:pPr indent="0" marL="0">
              <a:spcAft>
                <a:spcPts val="400"/>
              </a:spcAft>
              <a:buNone/>
            </a:pPr>
            <a:r>
              <a:rPr lang="en-US" sz="1500" dirty="0">
                <a:solidFill>
                  <a:schemeClr val="bg1"/>
                </a:solidFill>
              </a:rPr>
              <a:t>Ernesto Leonardo Oliva Esquivel · 1290-23-14523</a:t>
            </a:r>
            <a:endParaRPr lang="en-US" sz="1500" dirty="0"/>
          </a:p>
          <a:p>
            <a:pPr indent="0" marL="0">
              <a:spcAft>
                <a:spcPts val="400"/>
              </a:spcAft>
              <a:buNone/>
            </a:pPr>
            <a:r>
              <a:rPr lang="en-US" sz="1500" dirty="0">
                <a:solidFill>
                  <a:schemeClr val="bg1"/>
                </a:solidFill>
              </a:rPr>
              <a:t>Aseguramiento de la calidad del software · Universidad Mariano Gálvez de Guatemala</a:t>
            </a:r>
            <a:endParaRPr lang="en-US" sz="1500" dirty="0"/>
          </a:p>
          <a:p>
            <a:pPr indent="0" marL="0">
              <a:spcAft>
                <a:spcPts val="400"/>
              </a:spcAft>
              <a:buNone/>
            </a:pPr>
            <a:r>
              <a:rPr lang="en-US" sz="1500" dirty="0">
                <a:solidFill>
                  <a:schemeClr val="bg1"/>
                </a:solidFill>
              </a:rPr>
              <a:t>Catedrática: Nancy Guadalupe Portillo Pinto · 24-10-2026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Un solo sistema para varias municipalidades</a:t>
            </a:r>
            <a:endParaRPr lang="en-US" sz="3200" dirty="0"/>
          </a:p>
        </p:txBody>
      </p:sp>
      <p:sp>
        <p:nvSpPr>
          <p:cNvPr id="3" name="tarjeta-problema"/>
          <p:cNvSpPr/>
          <p:nvPr/>
        </p:nvSpPr>
        <p:spPr>
          <a:xfrm>
            <a:off x="548640" y="1371600"/>
            <a:ext cx="5120640" cy="4754880"/>
          </a:xfrm>
          <a:prstGeom prst="roundRect">
            <a:avLst>
              <a:gd name="adj" fmla="val 1538"/>
            </a:avLst>
          </a:prstGeom>
          <a:solidFill>
            <a:schemeClr val="bg2"/>
          </a:solidFill>
          <a:ln w="12700">
            <a:solidFill>
              <a:schemeClr val="bg2"/>
            </a:solidFill>
            <a:prstDash val="solid"/>
          </a:ln>
        </p:spPr>
      </p:sp>
      <p:sp>
        <p:nvSpPr>
          <p:cNvPr id="4" name="titulo-problema"/>
          <p:cNvSpPr txBox="1"/>
          <p:nvPr/>
        </p:nvSpPr>
        <p:spPr>
          <a:xfrm>
            <a:off x="868680" y="1645920"/>
            <a:ext cx="4572000" cy="457200"/>
          </a:xfrm>
          <a:prstGeom prst="rect">
            <a:avLst/>
          </a:prstGeom>
          <a:noFill/>
          <a:ln/>
        </p:spPr>
        <p:txBody>
          <a:bodyPr wrap="square" lIns="0" tIns="0" rIns="0" bIns="0" rtlCol="0" anchor="t"/>
          <a:lstStyle/>
          <a:p>
            <a:pPr indent="0" marL="0">
              <a:buNone/>
            </a:pPr>
            <a:r>
              <a:rPr lang="en-US" sz="2200" b="1" dirty="0">
                <a:solidFill>
                  <a:schemeClr val="accent6"/>
                </a:solidFill>
              </a:rPr>
              <a:t>El problema</a:t>
            </a:r>
            <a:endParaRPr lang="en-US" sz="2200" dirty="0"/>
          </a:p>
        </p:txBody>
      </p:sp>
      <p:sp>
        <p:nvSpPr>
          <p:cNvPr id="5" name="lista-problema"/>
          <p:cNvSpPr txBox="1"/>
          <p:nvPr/>
        </p:nvSpPr>
        <p:spPr>
          <a:xfrm>
            <a:off x="868680" y="2240280"/>
            <a:ext cx="4526280" cy="36576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Guatemala, Mixco, Villa Nueva, San José Pinula y Santa Catarina Pinula operan líneas que se cruzan</a:t>
            </a:r>
            <a:endParaRPr lang="en-US" sz="1500" dirty="0"/>
          </a:p>
          <a:p>
            <a:pPr marL="342900" indent="-342900">
              <a:spcAft>
                <a:spcPts val="1000"/>
              </a:spcAft>
              <a:buSzPct val="100000"/>
              <a:buChar char="•"/>
            </a:pPr>
            <a:r>
              <a:rPr lang="en-US" sz="1500" dirty="0">
                <a:solidFill>
                  <a:schemeClr val="tx1"/>
                </a:solidFill>
              </a:rPr>
              <a:t>Sin un registro común de líneas, buses, pilotos y recaudo</a:t>
            </a:r>
            <a:endParaRPr lang="en-US" sz="1500" dirty="0"/>
          </a:p>
          <a:p>
            <a:pPr marL="342900" indent="-342900">
              <a:spcAft>
                <a:spcPts val="1000"/>
              </a:spcAft>
              <a:buSzPct val="100000"/>
              <a:buChar char="•"/>
            </a:pPr>
            <a:r>
              <a:rPr lang="en-US" sz="1500" dirty="0">
                <a:solidFill>
                  <a:schemeClr val="tx1"/>
                </a:solidFill>
              </a:rPr>
              <a:t>Sin monitoreo en tiempo real de la flota ni de la saturación de estaciones</a:t>
            </a:r>
            <a:endParaRPr lang="en-US" sz="1500" dirty="0"/>
          </a:p>
          <a:p>
            <a:pPr marL="342900" indent="-342900">
              <a:spcAft>
                <a:spcPts val="1000"/>
              </a:spcAft>
              <a:buSzPct val="100000"/>
              <a:buChar char="•"/>
            </a:pPr>
            <a:r>
              <a:rPr lang="en-US" sz="1500" dirty="0">
                <a:solidFill>
                  <a:schemeClr val="tx1"/>
                </a:solidFill>
              </a:rPr>
              <a:t>El ciudadano no tiene un punto único de información</a:t>
            </a:r>
            <a:endParaRPr lang="en-US" sz="1500" dirty="0"/>
          </a:p>
        </p:txBody>
      </p:sp>
      <p:sp>
        <p:nvSpPr>
          <p:cNvPr id="6" name="titulo-solucion"/>
          <p:cNvSpPr txBox="1"/>
          <p:nvPr/>
        </p:nvSpPr>
        <p:spPr>
          <a:xfrm>
            <a:off x="6172200" y="1463040"/>
            <a:ext cx="5303520" cy="457200"/>
          </a:xfrm>
          <a:prstGeom prst="rect">
            <a:avLst/>
          </a:prstGeom>
          <a:noFill/>
          <a:ln/>
        </p:spPr>
        <p:txBody>
          <a:bodyPr wrap="square" lIns="0" tIns="0" rIns="0" bIns="0" rtlCol="0" anchor="t"/>
          <a:lstStyle/>
          <a:p>
            <a:pPr indent="0" marL="0">
              <a:buNone/>
            </a:pPr>
            <a:r>
              <a:rPr lang="en-US" sz="2200" b="1" dirty="0">
                <a:solidFill>
                  <a:schemeClr val="accent2"/>
                </a:solidFill>
              </a:rPr>
              <a:t>La solución</a:t>
            </a:r>
            <a:endParaRPr lang="en-US" sz="2200" dirty="0"/>
          </a:p>
        </p:txBody>
      </p:sp>
      <p:sp>
        <p:nvSpPr>
          <p:cNvPr id="7" name="icono-solucion-0-fondo"/>
          <p:cNvSpPr/>
          <p:nvPr/>
        </p:nvSpPr>
        <p:spPr>
          <a:xfrm>
            <a:off x="6172200" y="2148840"/>
            <a:ext cx="731520" cy="731520"/>
          </a:xfrm>
          <a:prstGeom prst="ellipse">
            <a:avLst/>
          </a:prstGeom>
          <a:solidFill>
            <a:schemeClr val="bg2"/>
          </a:solidFill>
          <a:ln w="12700">
            <a:solidFill>
              <a:schemeClr val="bg2"/>
            </a:solidFill>
            <a:prstDash val="solid"/>
          </a:ln>
        </p:spPr>
      </p:sp>
      <p:pic>
        <p:nvPicPr>
          <p:cNvPr id="8" name="icono-solucion-0" descr="icono-solucion-0">    </p:cNvPr>
          <p:cNvPicPr>
            <a:picLocks noChangeAspect="1"/>
          </p:cNvPicPr>
          <p:nvPr/>
        </p:nvPicPr>
        <p:blipFill>
          <a:blip r:embed="rId1"/>
          <a:stretch>
            <a:fillRect/>
          </a:stretch>
        </p:blipFill>
        <p:spPr>
          <a:xfrm>
            <a:off x="6333134" y="2309774"/>
            <a:ext cx="409651" cy="409651"/>
          </a:xfrm>
          <a:prstGeom prst="rect">
            <a:avLst/>
          </a:prstGeom>
        </p:spPr>
      </p:pic>
      <p:sp>
        <p:nvSpPr>
          <p:cNvPr id="9" name="sol-titulo-0"/>
          <p:cNvSpPr txBox="1"/>
          <p:nvPr/>
        </p:nvSpPr>
        <p:spPr>
          <a:xfrm>
            <a:off x="7132320" y="2148840"/>
            <a:ext cx="4480560" cy="365760"/>
          </a:xfrm>
          <a:prstGeom prst="rect">
            <a:avLst/>
          </a:prstGeom>
          <a:noFill/>
          <a:ln/>
        </p:spPr>
        <p:txBody>
          <a:bodyPr wrap="square" lIns="0" tIns="0" rIns="0" bIns="0" rtlCol="0" anchor="t"/>
          <a:lstStyle/>
          <a:p>
            <a:pPr indent="0" marL="0">
              <a:buNone/>
            </a:pPr>
            <a:r>
              <a:rPr lang="en-US" sz="1800" b="1" dirty="0">
                <a:solidFill>
                  <a:schemeClr val="tx1"/>
                </a:solidFill>
              </a:rPr>
              <a:t>Pantalla pública</a:t>
            </a:r>
            <a:endParaRPr lang="en-US" sz="1800" dirty="0"/>
          </a:p>
        </p:txBody>
      </p:sp>
      <p:sp>
        <p:nvSpPr>
          <p:cNvPr id="10" name="sol-texto-0"/>
          <p:cNvSpPr txBox="1"/>
          <p:nvPr/>
        </p:nvSpPr>
        <p:spPr>
          <a:xfrm>
            <a:off x="7132320" y="2532888"/>
            <a:ext cx="4480560" cy="777240"/>
          </a:xfrm>
          <a:prstGeom prst="rect">
            <a:avLst/>
          </a:prstGeom>
          <a:noFill/>
          <a:ln/>
        </p:spPr>
        <p:txBody>
          <a:bodyPr wrap="square" lIns="0" tIns="0" rIns="0" bIns="0" rtlCol="0" anchor="t"/>
          <a:lstStyle/>
          <a:p>
            <a:pPr indent="0" marL="0">
              <a:buNone/>
            </a:pPr>
            <a:r>
              <a:rPr lang="en-US" sz="1400" dirty="0">
                <a:solidFill>
                  <a:srgbClr val="4A4F63"/>
                </a:solidFill>
              </a:rPr>
              <a:t>Mapa de la red, horarios, recarga de tarjeta y sugerencias sin crear cuenta</a:t>
            </a:r>
            <a:endParaRPr lang="en-US" sz="1400" dirty="0"/>
          </a:p>
        </p:txBody>
      </p:sp>
      <p:sp>
        <p:nvSpPr>
          <p:cNvPr id="11" name="icono-solucion-1-fondo"/>
          <p:cNvSpPr/>
          <p:nvPr/>
        </p:nvSpPr>
        <p:spPr>
          <a:xfrm>
            <a:off x="6172200" y="3474720"/>
            <a:ext cx="731520" cy="731520"/>
          </a:xfrm>
          <a:prstGeom prst="ellipse">
            <a:avLst/>
          </a:prstGeom>
          <a:solidFill>
            <a:schemeClr val="bg2"/>
          </a:solidFill>
          <a:ln w="12700">
            <a:solidFill>
              <a:schemeClr val="bg2"/>
            </a:solidFill>
            <a:prstDash val="solid"/>
          </a:ln>
        </p:spPr>
      </p:sp>
      <p:pic>
        <p:nvPicPr>
          <p:cNvPr id="12" name="icono-solucion-1" descr="icono-solucion-1">    </p:cNvPr>
          <p:cNvPicPr>
            <a:picLocks noChangeAspect="1"/>
          </p:cNvPicPr>
          <p:nvPr/>
        </p:nvPicPr>
        <p:blipFill>
          <a:blip r:embed="rId2"/>
          <a:stretch>
            <a:fillRect/>
          </a:stretch>
        </p:blipFill>
        <p:spPr>
          <a:xfrm>
            <a:off x="6333134" y="3635654"/>
            <a:ext cx="409651" cy="409651"/>
          </a:xfrm>
          <a:prstGeom prst="rect">
            <a:avLst/>
          </a:prstGeom>
        </p:spPr>
      </p:pic>
      <p:sp>
        <p:nvSpPr>
          <p:cNvPr id="13" name="sol-titulo-1"/>
          <p:cNvSpPr txBox="1"/>
          <p:nvPr/>
        </p:nvSpPr>
        <p:spPr>
          <a:xfrm>
            <a:off x="7132320" y="3474720"/>
            <a:ext cx="4480560" cy="365760"/>
          </a:xfrm>
          <a:prstGeom prst="rect">
            <a:avLst/>
          </a:prstGeom>
          <a:noFill/>
          <a:ln/>
        </p:spPr>
        <p:txBody>
          <a:bodyPr wrap="square" lIns="0" tIns="0" rIns="0" bIns="0" rtlCol="0" anchor="t"/>
          <a:lstStyle/>
          <a:p>
            <a:pPr indent="0" marL="0">
              <a:buNone/>
            </a:pPr>
            <a:r>
              <a:rPr lang="en-US" sz="1800" b="1" dirty="0">
                <a:solidFill>
                  <a:schemeClr val="tx1"/>
                </a:solidFill>
              </a:rPr>
              <a:t>Portal del pasajero</a:t>
            </a:r>
            <a:endParaRPr lang="en-US" sz="1800" dirty="0"/>
          </a:p>
        </p:txBody>
      </p:sp>
      <p:sp>
        <p:nvSpPr>
          <p:cNvPr id="14" name="sol-texto-1"/>
          <p:cNvSpPr txBox="1"/>
          <p:nvPr/>
        </p:nvSpPr>
        <p:spPr>
          <a:xfrm>
            <a:off x="7132320" y="3858768"/>
            <a:ext cx="4480560" cy="777240"/>
          </a:xfrm>
          <a:prstGeom prst="rect">
            <a:avLst/>
          </a:prstGeom>
          <a:noFill/>
          <a:ln/>
        </p:spPr>
        <p:txBody>
          <a:bodyPr wrap="square" lIns="0" tIns="0" rIns="0" bIns="0" rtlCol="0" anchor="t"/>
          <a:lstStyle/>
          <a:p>
            <a:pPr indent="0" marL="0">
              <a:buNone/>
            </a:pPr>
            <a:r>
              <a:rPr lang="en-US" sz="1400" dirty="0">
                <a:solidFill>
                  <a:srgbClr val="4A4F63"/>
                </a:solidFill>
              </a:rPr>
              <a:t>Saldo, recargas en línea e historial de su tarjeta</a:t>
            </a:r>
            <a:endParaRPr lang="en-US" sz="1400" dirty="0"/>
          </a:p>
        </p:txBody>
      </p:sp>
      <p:sp>
        <p:nvSpPr>
          <p:cNvPr id="15" name="icono-solucion-2-fondo"/>
          <p:cNvSpPr/>
          <p:nvPr/>
        </p:nvSpPr>
        <p:spPr>
          <a:xfrm>
            <a:off x="6172200" y="4800600"/>
            <a:ext cx="731520" cy="731520"/>
          </a:xfrm>
          <a:prstGeom prst="ellipse">
            <a:avLst/>
          </a:prstGeom>
          <a:solidFill>
            <a:schemeClr val="bg2"/>
          </a:solidFill>
          <a:ln w="12700">
            <a:solidFill>
              <a:schemeClr val="bg2"/>
            </a:solidFill>
            <a:prstDash val="solid"/>
          </a:ln>
        </p:spPr>
      </p:sp>
      <p:pic>
        <p:nvPicPr>
          <p:cNvPr id="16" name="icono-solucion-2" descr="icono-solucion-2">    </p:cNvPr>
          <p:cNvPicPr>
            <a:picLocks noChangeAspect="1"/>
          </p:cNvPicPr>
          <p:nvPr/>
        </p:nvPicPr>
        <p:blipFill>
          <a:blip r:embed="rId3"/>
          <a:stretch>
            <a:fillRect/>
          </a:stretch>
        </p:blipFill>
        <p:spPr>
          <a:xfrm>
            <a:off x="6333134" y="4961534"/>
            <a:ext cx="409651" cy="409651"/>
          </a:xfrm>
          <a:prstGeom prst="rect">
            <a:avLst/>
          </a:prstGeom>
        </p:spPr>
      </p:pic>
      <p:sp>
        <p:nvSpPr>
          <p:cNvPr id="17" name="sol-titulo-2"/>
          <p:cNvSpPr txBox="1"/>
          <p:nvPr/>
        </p:nvSpPr>
        <p:spPr>
          <a:xfrm>
            <a:off x="7132320" y="4800600"/>
            <a:ext cx="4480560" cy="365760"/>
          </a:xfrm>
          <a:prstGeom prst="rect">
            <a:avLst/>
          </a:prstGeom>
          <a:noFill/>
          <a:ln/>
        </p:spPr>
        <p:txBody>
          <a:bodyPr wrap="square" lIns="0" tIns="0" rIns="0" bIns="0" rtlCol="0" anchor="t"/>
          <a:lstStyle/>
          <a:p>
            <a:pPr indent="0" marL="0">
              <a:buNone/>
            </a:pPr>
            <a:r>
              <a:rPr lang="en-US" sz="1800" b="1" dirty="0">
                <a:solidFill>
                  <a:schemeClr val="tx1"/>
                </a:solidFill>
              </a:rPr>
              <a:t>Panel del personal</a:t>
            </a:r>
            <a:endParaRPr lang="en-US" sz="1800" dirty="0"/>
          </a:p>
        </p:txBody>
      </p:sp>
      <p:sp>
        <p:nvSpPr>
          <p:cNvPr id="18" name="sol-texto-2"/>
          <p:cNvSpPr txBox="1"/>
          <p:nvPr/>
        </p:nvSpPr>
        <p:spPr>
          <a:xfrm>
            <a:off x="7132320" y="5184648"/>
            <a:ext cx="4480560" cy="777240"/>
          </a:xfrm>
          <a:prstGeom prst="rect">
            <a:avLst/>
          </a:prstGeom>
          <a:noFill/>
          <a:ln/>
        </p:spPr>
        <p:txBody>
          <a:bodyPr wrap="square" lIns="0" tIns="0" rIns="0" bIns="0" rtlCol="0" anchor="t"/>
          <a:lstStyle/>
          <a:p>
            <a:pPr indent="0" marL="0">
              <a:buNone/>
            </a:pPr>
            <a:r>
              <a:rPr lang="en-US" sz="1400" dirty="0">
                <a:solidFill>
                  <a:srgbClr val="4A4F63"/>
                </a:solidFill>
              </a:rPr>
              <a:t>Administración, monitoreo y reportes según el rol: administrador, municipal, operador y guardia</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Resultados en cifras</a:t>
            </a:r>
            <a:endParaRPr lang="en-US" sz="3200" dirty="0"/>
          </a:p>
        </p:txBody>
      </p:sp>
      <p:sp>
        <p:nvSpPr>
          <p:cNvPr id="3" name="tarjeta-cifra-0"/>
          <p:cNvSpPr/>
          <p:nvPr/>
        </p:nvSpPr>
        <p:spPr>
          <a:xfrm>
            <a:off x="548640" y="1554480"/>
            <a:ext cx="2606040" cy="2743200"/>
          </a:xfrm>
          <a:prstGeom prst="roundRect">
            <a:avLst>
              <a:gd name="adj" fmla="val 2807"/>
            </a:avLst>
          </a:prstGeom>
          <a:solidFill>
            <a:schemeClr val="bg2"/>
          </a:solidFill>
          <a:ln w="12700">
            <a:solidFill>
              <a:schemeClr val="bg2"/>
            </a:solidFill>
            <a:prstDash val="solid"/>
          </a:ln>
        </p:spPr>
      </p:sp>
      <p:sp>
        <p:nvSpPr>
          <p:cNvPr id="4" name="cifra-0"/>
          <p:cNvSpPr txBox="1"/>
          <p:nvPr/>
        </p:nvSpPr>
        <p:spPr>
          <a:xfrm>
            <a:off x="777240" y="1874520"/>
            <a:ext cx="2194560" cy="1005840"/>
          </a:xfrm>
          <a:prstGeom prst="rect">
            <a:avLst/>
          </a:prstGeom>
          <a:noFill/>
          <a:ln/>
        </p:spPr>
        <p:txBody>
          <a:bodyPr wrap="square" lIns="0" tIns="0" rIns="0" bIns="0" rtlCol="0" anchor="t"/>
          <a:lstStyle/>
          <a:p>
            <a:pPr indent="0" marL="0">
              <a:buNone/>
            </a:pPr>
            <a:r>
              <a:rPr lang="en-US" sz="4800" b="1" dirty="0">
                <a:solidFill>
                  <a:schemeClr val="accent1"/>
                </a:solidFill>
              </a:rPr>
              <a:t>103/103</a:t>
            </a:r>
            <a:endParaRPr lang="en-US" sz="4800" dirty="0"/>
          </a:p>
        </p:txBody>
      </p:sp>
      <p:sp>
        <p:nvSpPr>
          <p:cNvPr id="5" name="cifra-texto-0"/>
          <p:cNvSpPr txBox="1"/>
          <p:nvPr/>
        </p:nvSpPr>
        <p:spPr>
          <a:xfrm>
            <a:off x="777240" y="2971800"/>
            <a:ext cx="2194560" cy="1097280"/>
          </a:xfrm>
          <a:prstGeom prst="rect">
            <a:avLst/>
          </a:prstGeom>
          <a:noFill/>
          <a:ln/>
        </p:spPr>
        <p:txBody>
          <a:bodyPr wrap="square" lIns="0" tIns="0" rIns="0" bIns="0" rtlCol="0" anchor="t"/>
          <a:lstStyle/>
          <a:p>
            <a:pPr indent="0" marL="0">
              <a:buNone/>
            </a:pPr>
            <a:r>
              <a:rPr lang="en-US" sz="1500" dirty="0">
                <a:solidFill>
                  <a:srgbClr val="4A4F63"/>
                </a:solidFill>
              </a:rPr>
              <a:t>pruebas automáticas aprobadas</a:t>
            </a:r>
            <a:endParaRPr lang="en-US" sz="1500" dirty="0"/>
          </a:p>
        </p:txBody>
      </p:sp>
      <p:sp>
        <p:nvSpPr>
          <p:cNvPr id="6" name="tarjeta-cifra-1"/>
          <p:cNvSpPr/>
          <p:nvPr/>
        </p:nvSpPr>
        <p:spPr>
          <a:xfrm>
            <a:off x="3364992" y="1554480"/>
            <a:ext cx="2606040" cy="2743200"/>
          </a:xfrm>
          <a:prstGeom prst="roundRect">
            <a:avLst>
              <a:gd name="adj" fmla="val 2807"/>
            </a:avLst>
          </a:prstGeom>
          <a:solidFill>
            <a:schemeClr val="bg2"/>
          </a:solidFill>
          <a:ln w="12700">
            <a:solidFill>
              <a:schemeClr val="bg2"/>
            </a:solidFill>
            <a:prstDash val="solid"/>
          </a:ln>
        </p:spPr>
      </p:sp>
      <p:sp>
        <p:nvSpPr>
          <p:cNvPr id="7" name="cifra-1"/>
          <p:cNvSpPr txBox="1"/>
          <p:nvPr/>
        </p:nvSpPr>
        <p:spPr>
          <a:xfrm>
            <a:off x="3593592" y="1874520"/>
            <a:ext cx="2194560" cy="1005840"/>
          </a:xfrm>
          <a:prstGeom prst="rect">
            <a:avLst/>
          </a:prstGeom>
          <a:noFill/>
          <a:ln/>
        </p:spPr>
        <p:txBody>
          <a:bodyPr wrap="square" lIns="0" tIns="0" rIns="0" bIns="0" rtlCol="0" anchor="t"/>
          <a:lstStyle/>
          <a:p>
            <a:pPr indent="0" marL="0">
              <a:buNone/>
            </a:pPr>
            <a:r>
              <a:rPr lang="en-US" sz="4800" b="1" dirty="0">
                <a:solidFill>
                  <a:schemeClr val="accent2"/>
                </a:solidFill>
              </a:rPr>
              <a:t>98.2 %</a:t>
            </a:r>
            <a:endParaRPr lang="en-US" sz="4800" dirty="0"/>
          </a:p>
        </p:txBody>
      </p:sp>
      <p:sp>
        <p:nvSpPr>
          <p:cNvPr id="8" name="cifra-texto-1"/>
          <p:cNvSpPr txBox="1"/>
          <p:nvPr/>
        </p:nvSpPr>
        <p:spPr>
          <a:xfrm>
            <a:off x="3593592" y="2971800"/>
            <a:ext cx="2194560" cy="1097280"/>
          </a:xfrm>
          <a:prstGeom prst="rect">
            <a:avLst/>
          </a:prstGeom>
          <a:noFill/>
          <a:ln/>
        </p:spPr>
        <p:txBody>
          <a:bodyPr wrap="square" lIns="0" tIns="0" rIns="0" bIns="0" rtlCol="0" anchor="t"/>
          <a:lstStyle/>
          <a:p>
            <a:pPr indent="0" marL="0">
              <a:buNone/>
            </a:pPr>
            <a:r>
              <a:rPr lang="en-US" sz="1500" dirty="0">
                <a:solidFill>
                  <a:srgbClr val="4A4F63"/>
                </a:solidFill>
              </a:rPr>
              <a:t>de éxito en los casos del plan de pruebas</a:t>
            </a:r>
            <a:endParaRPr lang="en-US" sz="1500" dirty="0"/>
          </a:p>
        </p:txBody>
      </p:sp>
      <p:sp>
        <p:nvSpPr>
          <p:cNvPr id="9" name="tarjeta-cifra-2"/>
          <p:cNvSpPr/>
          <p:nvPr/>
        </p:nvSpPr>
        <p:spPr>
          <a:xfrm>
            <a:off x="6181344" y="1554480"/>
            <a:ext cx="2606040" cy="2743200"/>
          </a:xfrm>
          <a:prstGeom prst="roundRect">
            <a:avLst>
              <a:gd name="adj" fmla="val 2807"/>
            </a:avLst>
          </a:prstGeom>
          <a:solidFill>
            <a:schemeClr val="bg2"/>
          </a:solidFill>
          <a:ln w="12700">
            <a:solidFill>
              <a:schemeClr val="bg2"/>
            </a:solidFill>
            <a:prstDash val="solid"/>
          </a:ln>
        </p:spPr>
      </p:sp>
      <p:sp>
        <p:nvSpPr>
          <p:cNvPr id="10" name="cifra-2"/>
          <p:cNvSpPr txBox="1"/>
          <p:nvPr/>
        </p:nvSpPr>
        <p:spPr>
          <a:xfrm>
            <a:off x="6409944" y="1874520"/>
            <a:ext cx="2194560" cy="1005840"/>
          </a:xfrm>
          <a:prstGeom prst="rect">
            <a:avLst/>
          </a:prstGeom>
          <a:noFill/>
          <a:ln/>
        </p:spPr>
        <p:txBody>
          <a:bodyPr wrap="square" lIns="0" tIns="0" rIns="0" bIns="0" rtlCol="0" anchor="t"/>
          <a:lstStyle/>
          <a:p>
            <a:pPr indent="0" marL="0">
              <a:buNone/>
            </a:pPr>
            <a:r>
              <a:rPr lang="en-US" sz="4800" b="1" dirty="0">
                <a:solidFill>
                  <a:schemeClr val="accent1"/>
                </a:solidFill>
              </a:rPr>
              <a:t>93.7 %</a:t>
            </a:r>
            <a:endParaRPr lang="en-US" sz="4800" dirty="0"/>
          </a:p>
        </p:txBody>
      </p:sp>
      <p:sp>
        <p:nvSpPr>
          <p:cNvPr id="11" name="cifra-texto-2"/>
          <p:cNvSpPr txBox="1"/>
          <p:nvPr/>
        </p:nvSpPr>
        <p:spPr>
          <a:xfrm>
            <a:off x="6409944" y="2971800"/>
            <a:ext cx="2194560" cy="1097280"/>
          </a:xfrm>
          <a:prstGeom prst="rect">
            <a:avLst/>
          </a:prstGeom>
          <a:noFill/>
          <a:ln/>
        </p:spPr>
        <p:txBody>
          <a:bodyPr wrap="square" lIns="0" tIns="0" rIns="0" bIns="0" rtlCol="0" anchor="t"/>
          <a:lstStyle/>
          <a:p>
            <a:pPr indent="0" marL="0">
              <a:buNone/>
            </a:pPr>
            <a:r>
              <a:rPr lang="en-US" sz="1500" dirty="0">
                <a:solidFill>
                  <a:srgbClr val="4A4F63"/>
                </a:solidFill>
              </a:rPr>
              <a:t>de cobertura de código del backend</a:t>
            </a:r>
            <a:endParaRPr lang="en-US" sz="1500" dirty="0"/>
          </a:p>
        </p:txBody>
      </p:sp>
      <p:sp>
        <p:nvSpPr>
          <p:cNvPr id="12" name="tarjeta-cifra-3"/>
          <p:cNvSpPr/>
          <p:nvPr/>
        </p:nvSpPr>
        <p:spPr>
          <a:xfrm>
            <a:off x="8997696" y="1554480"/>
            <a:ext cx="2606040" cy="2743200"/>
          </a:xfrm>
          <a:prstGeom prst="roundRect">
            <a:avLst>
              <a:gd name="adj" fmla="val 2807"/>
            </a:avLst>
          </a:prstGeom>
          <a:solidFill>
            <a:schemeClr val="bg2"/>
          </a:solidFill>
          <a:ln w="12700">
            <a:solidFill>
              <a:schemeClr val="bg2"/>
            </a:solidFill>
            <a:prstDash val="solid"/>
          </a:ln>
        </p:spPr>
      </p:sp>
      <p:sp>
        <p:nvSpPr>
          <p:cNvPr id="13" name="cifra-3"/>
          <p:cNvSpPr txBox="1"/>
          <p:nvPr/>
        </p:nvSpPr>
        <p:spPr>
          <a:xfrm>
            <a:off x="9226296" y="1874520"/>
            <a:ext cx="2194560" cy="1005840"/>
          </a:xfrm>
          <a:prstGeom prst="rect">
            <a:avLst/>
          </a:prstGeom>
          <a:noFill/>
          <a:ln/>
        </p:spPr>
        <p:txBody>
          <a:bodyPr wrap="square" lIns="0" tIns="0" rIns="0" bIns="0" rtlCol="0" anchor="t"/>
          <a:lstStyle/>
          <a:p>
            <a:pPr indent="0" marL="0">
              <a:buNone/>
            </a:pPr>
            <a:r>
              <a:rPr lang="en-US" sz="4800" b="1" dirty="0">
                <a:solidFill>
                  <a:schemeClr val="accent2"/>
                </a:solidFill>
              </a:rPr>
              <a:t>7 ms</a:t>
            </a:r>
            <a:endParaRPr lang="en-US" sz="4800" dirty="0"/>
          </a:p>
        </p:txBody>
      </p:sp>
      <p:sp>
        <p:nvSpPr>
          <p:cNvPr id="14" name="cifra-texto-3"/>
          <p:cNvSpPr txBox="1"/>
          <p:nvPr/>
        </p:nvSpPr>
        <p:spPr>
          <a:xfrm>
            <a:off x="9226296" y="2971800"/>
            <a:ext cx="2194560" cy="1097280"/>
          </a:xfrm>
          <a:prstGeom prst="rect">
            <a:avLst/>
          </a:prstGeom>
          <a:noFill/>
          <a:ln/>
        </p:spPr>
        <p:txBody>
          <a:bodyPr wrap="square" lIns="0" tIns="0" rIns="0" bIns="0" rtlCol="0" anchor="t"/>
          <a:lstStyle/>
          <a:p>
            <a:pPr indent="0" marL="0">
              <a:buNone/>
            </a:pPr>
            <a:r>
              <a:rPr lang="en-US" sz="1500" dirty="0">
                <a:solidFill>
                  <a:srgbClr val="4A4F63"/>
                </a:solidFill>
              </a:rPr>
              <a:t>latencia p95 de las posiciones en vivo (meta: 2 s)</a:t>
            </a:r>
            <a:endParaRPr lang="en-US" sz="1500" dirty="0"/>
          </a:p>
        </p:txBody>
      </p:sp>
      <p:sp>
        <p:nvSpPr>
          <p:cNvPr id="15" name="resumen-red"/>
          <p:cNvSpPr txBox="1"/>
          <p:nvPr/>
        </p:nvSpPr>
        <p:spPr>
          <a:xfrm>
            <a:off x="548640" y="4800600"/>
            <a:ext cx="11064240" cy="822960"/>
          </a:xfrm>
          <a:prstGeom prst="rect">
            <a:avLst/>
          </a:prstGeom>
          <a:noFill/>
          <a:ln/>
        </p:spPr>
        <p:txBody>
          <a:bodyPr wrap="square" lIns="0" tIns="0" rIns="0" bIns="0" rtlCol="0" anchor="t"/>
          <a:lstStyle/>
          <a:p>
            <a:pPr indent="0" marL="0">
              <a:buNone/>
            </a:pPr>
            <a:r>
              <a:rPr lang="en-US" sz="1600" dirty="0">
                <a:solidFill>
                  <a:schemeClr val="tx1"/>
                </a:solidFill>
              </a:rPr>
              <a:t>4 líneas, 14 estaciones y 21 buses en los datos de demostración · 20 tablas en PostgreSQL · publicado en la nube con Render y Neon</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Estado de los 19 requerimientos</a:t>
            </a:r>
            <a:endParaRPr lang="en-US" sz="3200" dirty="0"/>
          </a:p>
        </p:txBody>
      </p:sp>
      <p:sp>
        <p:nvSpPr>
          <p:cNvPr id="3" name="req-RF-1"/>
          <p:cNvSpPr/>
          <p:nvPr/>
        </p:nvSpPr>
        <p:spPr>
          <a:xfrm>
            <a:off x="548640" y="1371600"/>
            <a:ext cx="2029968" cy="777240"/>
          </a:xfrm>
          <a:prstGeom prst="roundRect">
            <a:avLst>
              <a:gd name="adj" fmla="val 9412"/>
            </a:avLst>
          </a:prstGeom>
          <a:solidFill>
            <a:srgbClr val="E7F5E1"/>
          </a:solidFill>
          <a:ln w="12700">
            <a:solidFill>
              <a:srgbClr val="E7F5E1"/>
            </a:solidFill>
            <a:prstDash val="solid"/>
          </a:ln>
        </p:spPr>
      </p:sp>
      <p:sp>
        <p:nvSpPr>
          <p:cNvPr id="4" name="req-texto-RF-1"/>
          <p:cNvSpPr txBox="1"/>
          <p:nvPr/>
        </p:nvSpPr>
        <p:spPr>
          <a:xfrm>
            <a:off x="676656" y="1463040"/>
            <a:ext cx="1828800" cy="640080"/>
          </a:xfrm>
          <a:prstGeom prst="rect">
            <a:avLst/>
          </a:prstGeom>
          <a:noFill/>
          <a:ln/>
        </p:spPr>
        <p:txBody>
          <a:bodyPr wrap="square" lIns="0" tIns="0" rIns="0" bIns="0" rtlCol="0" anchor="t"/>
          <a:lstStyle/>
          <a:p>
            <a:pPr indent="0" marL="0">
              <a:buNone/>
            </a:pPr>
            <a:r>
              <a:rPr lang="en-US" sz="1400" b="1" dirty="0">
                <a:solidFill>
                  <a:srgbClr val="2E7D32"/>
                </a:solidFill>
              </a:rPr>
              <a:t>RF-1</a:t>
            </a:r>
            <a:endParaRPr lang="en-US" sz="1400" dirty="0"/>
          </a:p>
          <a:p>
            <a:pPr indent="0" marL="0">
              <a:buNone/>
            </a:pPr>
            <a:r>
              <a:rPr lang="en-US" sz="1400" dirty="0">
                <a:solidFill>
                  <a:schemeClr val="tx1"/>
                </a:solidFill>
              </a:rPr>
              <a:t>Líneas y estaciones</a:t>
            </a:r>
            <a:endParaRPr lang="en-US" sz="1400" dirty="0"/>
          </a:p>
        </p:txBody>
      </p:sp>
      <p:sp>
        <p:nvSpPr>
          <p:cNvPr id="5" name="req-RF-2"/>
          <p:cNvSpPr/>
          <p:nvPr/>
        </p:nvSpPr>
        <p:spPr>
          <a:xfrm>
            <a:off x="2724912" y="1371600"/>
            <a:ext cx="2029968" cy="777240"/>
          </a:xfrm>
          <a:prstGeom prst="roundRect">
            <a:avLst>
              <a:gd name="adj" fmla="val 9412"/>
            </a:avLst>
          </a:prstGeom>
          <a:solidFill>
            <a:srgbClr val="E7F5E1"/>
          </a:solidFill>
          <a:ln w="12700">
            <a:solidFill>
              <a:srgbClr val="E7F5E1"/>
            </a:solidFill>
            <a:prstDash val="solid"/>
          </a:ln>
        </p:spPr>
      </p:sp>
      <p:sp>
        <p:nvSpPr>
          <p:cNvPr id="6" name="req-texto-RF-2"/>
          <p:cNvSpPr txBox="1"/>
          <p:nvPr/>
        </p:nvSpPr>
        <p:spPr>
          <a:xfrm>
            <a:off x="2852928" y="1463040"/>
            <a:ext cx="1828800" cy="640080"/>
          </a:xfrm>
          <a:prstGeom prst="rect">
            <a:avLst/>
          </a:prstGeom>
          <a:noFill/>
          <a:ln/>
        </p:spPr>
        <p:txBody>
          <a:bodyPr wrap="square" lIns="0" tIns="0" rIns="0" bIns="0" rtlCol="0" anchor="t"/>
          <a:lstStyle/>
          <a:p>
            <a:pPr indent="0" marL="0">
              <a:buNone/>
            </a:pPr>
            <a:r>
              <a:rPr lang="en-US" sz="1400" b="1" dirty="0">
                <a:solidFill>
                  <a:srgbClr val="2E7D32"/>
                </a:solidFill>
              </a:rPr>
              <a:t>RF-2</a:t>
            </a:r>
            <a:endParaRPr lang="en-US" sz="1400" dirty="0"/>
          </a:p>
          <a:p>
            <a:pPr indent="0" marL="0">
              <a:buNone/>
            </a:pPr>
            <a:r>
              <a:rPr lang="en-US" sz="1400" dirty="0">
                <a:solidFill>
                  <a:schemeClr val="tx1"/>
                </a:solidFill>
              </a:rPr>
              <a:t>Accesos y guardias</a:t>
            </a:r>
            <a:endParaRPr lang="en-US" sz="1400" dirty="0"/>
          </a:p>
        </p:txBody>
      </p:sp>
      <p:sp>
        <p:nvSpPr>
          <p:cNvPr id="7" name="req-RF-3"/>
          <p:cNvSpPr/>
          <p:nvPr/>
        </p:nvSpPr>
        <p:spPr>
          <a:xfrm>
            <a:off x="4901184" y="1371600"/>
            <a:ext cx="2029968" cy="777240"/>
          </a:xfrm>
          <a:prstGeom prst="roundRect">
            <a:avLst>
              <a:gd name="adj" fmla="val 9412"/>
            </a:avLst>
          </a:prstGeom>
          <a:solidFill>
            <a:srgbClr val="E7F5E1"/>
          </a:solidFill>
          <a:ln w="12700">
            <a:solidFill>
              <a:srgbClr val="E7F5E1"/>
            </a:solidFill>
            <a:prstDash val="solid"/>
          </a:ln>
        </p:spPr>
      </p:sp>
      <p:sp>
        <p:nvSpPr>
          <p:cNvPr id="8" name="req-texto-RF-3"/>
          <p:cNvSpPr txBox="1"/>
          <p:nvPr/>
        </p:nvSpPr>
        <p:spPr>
          <a:xfrm>
            <a:off x="5029200" y="1463040"/>
            <a:ext cx="1828800" cy="640080"/>
          </a:xfrm>
          <a:prstGeom prst="rect">
            <a:avLst/>
          </a:prstGeom>
          <a:noFill/>
          <a:ln/>
        </p:spPr>
        <p:txBody>
          <a:bodyPr wrap="square" lIns="0" tIns="0" rIns="0" bIns="0" rtlCol="0" anchor="t"/>
          <a:lstStyle/>
          <a:p>
            <a:pPr indent="0" marL="0">
              <a:buNone/>
            </a:pPr>
            <a:r>
              <a:rPr lang="en-US" sz="1400" b="1" dirty="0">
                <a:solidFill>
                  <a:srgbClr val="2E7D32"/>
                </a:solidFill>
              </a:rPr>
              <a:t>RF-3</a:t>
            </a:r>
            <a:endParaRPr lang="en-US" sz="1400" dirty="0"/>
          </a:p>
          <a:p>
            <a:pPr indent="0" marL="0">
              <a:buNone/>
            </a:pPr>
            <a:r>
              <a:rPr lang="en-US" sz="1400" dirty="0">
                <a:solidFill>
                  <a:schemeClr val="tx1"/>
                </a:solidFill>
              </a:rPr>
              <a:t>Buses por línea N a 2N</a:t>
            </a:r>
            <a:endParaRPr lang="en-US" sz="1400" dirty="0"/>
          </a:p>
        </p:txBody>
      </p:sp>
      <p:sp>
        <p:nvSpPr>
          <p:cNvPr id="9" name="req-RF-4"/>
          <p:cNvSpPr/>
          <p:nvPr/>
        </p:nvSpPr>
        <p:spPr>
          <a:xfrm>
            <a:off x="7077456" y="1371600"/>
            <a:ext cx="2029968" cy="777240"/>
          </a:xfrm>
          <a:prstGeom prst="roundRect">
            <a:avLst>
              <a:gd name="adj" fmla="val 9412"/>
            </a:avLst>
          </a:prstGeom>
          <a:solidFill>
            <a:srgbClr val="E7F5E1"/>
          </a:solidFill>
          <a:ln w="12700">
            <a:solidFill>
              <a:srgbClr val="E7F5E1"/>
            </a:solidFill>
            <a:prstDash val="solid"/>
          </a:ln>
        </p:spPr>
      </p:sp>
      <p:sp>
        <p:nvSpPr>
          <p:cNvPr id="10" name="req-texto-RF-4"/>
          <p:cNvSpPr txBox="1"/>
          <p:nvPr/>
        </p:nvSpPr>
        <p:spPr>
          <a:xfrm>
            <a:off x="7205472" y="1463040"/>
            <a:ext cx="1828800" cy="640080"/>
          </a:xfrm>
          <a:prstGeom prst="rect">
            <a:avLst/>
          </a:prstGeom>
          <a:noFill/>
          <a:ln/>
        </p:spPr>
        <p:txBody>
          <a:bodyPr wrap="square" lIns="0" tIns="0" rIns="0" bIns="0" rtlCol="0" anchor="t"/>
          <a:lstStyle/>
          <a:p>
            <a:pPr indent="0" marL="0">
              <a:buNone/>
            </a:pPr>
            <a:r>
              <a:rPr lang="en-US" sz="1400" b="1" dirty="0">
                <a:solidFill>
                  <a:srgbClr val="2E7D32"/>
                </a:solidFill>
              </a:rPr>
              <a:t>RF-4</a:t>
            </a:r>
            <a:endParaRPr lang="en-US" sz="1400" dirty="0"/>
          </a:p>
          <a:p>
            <a:pPr indent="0" marL="0">
              <a:buNone/>
            </a:pPr>
            <a:r>
              <a:rPr lang="en-US" sz="1400" dirty="0">
                <a:solidFill>
                  <a:schemeClr val="tx1"/>
                </a:solidFill>
              </a:rPr>
              <a:t>Parqueos</a:t>
            </a:r>
            <a:endParaRPr lang="en-US" sz="1400" dirty="0"/>
          </a:p>
        </p:txBody>
      </p:sp>
      <p:sp>
        <p:nvSpPr>
          <p:cNvPr id="11" name="req-RF-5"/>
          <p:cNvSpPr/>
          <p:nvPr/>
        </p:nvSpPr>
        <p:spPr>
          <a:xfrm>
            <a:off x="548640" y="2286000"/>
            <a:ext cx="2029968" cy="777240"/>
          </a:xfrm>
          <a:prstGeom prst="roundRect">
            <a:avLst>
              <a:gd name="adj" fmla="val 9412"/>
            </a:avLst>
          </a:prstGeom>
          <a:solidFill>
            <a:srgbClr val="FFF1D6"/>
          </a:solidFill>
          <a:ln w="12700">
            <a:solidFill>
              <a:srgbClr val="FFF1D6"/>
            </a:solidFill>
            <a:prstDash val="solid"/>
          </a:ln>
        </p:spPr>
      </p:sp>
      <p:sp>
        <p:nvSpPr>
          <p:cNvPr id="12" name="req-texto-RF-5"/>
          <p:cNvSpPr txBox="1"/>
          <p:nvPr/>
        </p:nvSpPr>
        <p:spPr>
          <a:xfrm>
            <a:off x="676656" y="2377440"/>
            <a:ext cx="1828800" cy="640080"/>
          </a:xfrm>
          <a:prstGeom prst="rect">
            <a:avLst/>
          </a:prstGeom>
          <a:noFill/>
          <a:ln/>
        </p:spPr>
        <p:txBody>
          <a:bodyPr wrap="square" lIns="0" tIns="0" rIns="0" bIns="0" rtlCol="0" anchor="t"/>
          <a:lstStyle/>
          <a:p>
            <a:pPr indent="0" marL="0">
              <a:buNone/>
            </a:pPr>
            <a:r>
              <a:rPr lang="en-US" sz="1400" b="1" dirty="0">
                <a:solidFill>
                  <a:srgbClr val="8A5300"/>
                </a:solidFill>
              </a:rPr>
              <a:t>RF-5</a:t>
            </a:r>
            <a:endParaRPr lang="en-US" sz="1400" dirty="0"/>
          </a:p>
          <a:p>
            <a:pPr indent="0" marL="0">
              <a:buNone/>
            </a:pPr>
            <a:r>
              <a:rPr lang="en-US" sz="1400" dirty="0">
                <a:solidFill>
                  <a:schemeClr val="tx1"/>
                </a:solidFill>
              </a:rPr>
              <a:t>GPS / AVL</a:t>
            </a:r>
            <a:endParaRPr lang="en-US" sz="1400" dirty="0"/>
          </a:p>
        </p:txBody>
      </p:sp>
      <p:sp>
        <p:nvSpPr>
          <p:cNvPr id="13" name="req-RF-6"/>
          <p:cNvSpPr/>
          <p:nvPr/>
        </p:nvSpPr>
        <p:spPr>
          <a:xfrm>
            <a:off x="2724912" y="2286000"/>
            <a:ext cx="2029968" cy="777240"/>
          </a:xfrm>
          <a:prstGeom prst="roundRect">
            <a:avLst>
              <a:gd name="adj" fmla="val 9412"/>
            </a:avLst>
          </a:prstGeom>
          <a:solidFill>
            <a:srgbClr val="E7F5E1"/>
          </a:solidFill>
          <a:ln w="12700">
            <a:solidFill>
              <a:srgbClr val="E7F5E1"/>
            </a:solidFill>
            <a:prstDash val="solid"/>
          </a:ln>
        </p:spPr>
      </p:sp>
      <p:sp>
        <p:nvSpPr>
          <p:cNvPr id="14" name="req-texto-RF-6"/>
          <p:cNvSpPr txBox="1"/>
          <p:nvPr/>
        </p:nvSpPr>
        <p:spPr>
          <a:xfrm>
            <a:off x="2852928" y="2377440"/>
            <a:ext cx="1828800" cy="640080"/>
          </a:xfrm>
          <a:prstGeom prst="rect">
            <a:avLst/>
          </a:prstGeom>
          <a:noFill/>
          <a:ln/>
        </p:spPr>
        <p:txBody>
          <a:bodyPr wrap="square" lIns="0" tIns="0" rIns="0" bIns="0" rtlCol="0" anchor="t"/>
          <a:lstStyle/>
          <a:p>
            <a:pPr indent="0" marL="0">
              <a:buNone/>
            </a:pPr>
            <a:r>
              <a:rPr lang="en-US" sz="1400" b="1" dirty="0">
                <a:solidFill>
                  <a:srgbClr val="2E7D32"/>
                </a:solidFill>
              </a:rPr>
              <a:t>RF-6</a:t>
            </a:r>
            <a:endParaRPr lang="en-US" sz="1400" dirty="0"/>
          </a:p>
          <a:p>
            <a:pPr indent="0" marL="0">
              <a:buNone/>
            </a:pPr>
            <a:r>
              <a:rPr lang="en-US" sz="1400" dirty="0">
                <a:solidFill>
                  <a:schemeClr val="tx1"/>
                </a:solidFill>
              </a:rPr>
              <a:t>Pilotos</a:t>
            </a:r>
            <a:endParaRPr lang="en-US" sz="1400" dirty="0"/>
          </a:p>
        </p:txBody>
      </p:sp>
      <p:sp>
        <p:nvSpPr>
          <p:cNvPr id="15" name="req-RF-7"/>
          <p:cNvSpPr/>
          <p:nvPr/>
        </p:nvSpPr>
        <p:spPr>
          <a:xfrm>
            <a:off x="4901184" y="2286000"/>
            <a:ext cx="2029968" cy="777240"/>
          </a:xfrm>
          <a:prstGeom prst="roundRect">
            <a:avLst>
              <a:gd name="adj" fmla="val 9412"/>
            </a:avLst>
          </a:prstGeom>
          <a:solidFill>
            <a:srgbClr val="E7F5E1"/>
          </a:solidFill>
          <a:ln w="12700">
            <a:solidFill>
              <a:srgbClr val="E7F5E1"/>
            </a:solidFill>
            <a:prstDash val="solid"/>
          </a:ln>
        </p:spPr>
      </p:sp>
      <p:sp>
        <p:nvSpPr>
          <p:cNvPr id="16" name="req-texto-RF-7"/>
          <p:cNvSpPr txBox="1"/>
          <p:nvPr/>
        </p:nvSpPr>
        <p:spPr>
          <a:xfrm>
            <a:off x="5029200" y="2377440"/>
            <a:ext cx="1828800" cy="640080"/>
          </a:xfrm>
          <a:prstGeom prst="rect">
            <a:avLst/>
          </a:prstGeom>
          <a:noFill/>
          <a:ln/>
        </p:spPr>
        <p:txBody>
          <a:bodyPr wrap="square" lIns="0" tIns="0" rIns="0" bIns="0" rtlCol="0" anchor="t"/>
          <a:lstStyle/>
          <a:p>
            <a:pPr indent="0" marL="0">
              <a:buNone/>
            </a:pPr>
            <a:r>
              <a:rPr lang="en-US" sz="1400" b="1" dirty="0">
                <a:solidFill>
                  <a:srgbClr val="2E7D32"/>
                </a:solidFill>
              </a:rPr>
              <a:t>RF-7</a:t>
            </a:r>
            <a:endParaRPr lang="en-US" sz="1400" dirty="0"/>
          </a:p>
          <a:p>
            <a:pPr indent="0" marL="0">
              <a:buNone/>
            </a:pPr>
            <a:r>
              <a:rPr lang="en-US" sz="1400" dirty="0">
                <a:solidFill>
                  <a:schemeClr val="tx1"/>
                </a:solidFill>
              </a:rPr>
              <a:t>Ocupación y alertas</a:t>
            </a:r>
            <a:endParaRPr lang="en-US" sz="1400" dirty="0"/>
          </a:p>
        </p:txBody>
      </p:sp>
      <p:sp>
        <p:nvSpPr>
          <p:cNvPr id="17" name="req-RF-8"/>
          <p:cNvSpPr/>
          <p:nvPr/>
        </p:nvSpPr>
        <p:spPr>
          <a:xfrm>
            <a:off x="7077456" y="2286000"/>
            <a:ext cx="2029968" cy="777240"/>
          </a:xfrm>
          <a:prstGeom prst="roundRect">
            <a:avLst>
              <a:gd name="adj" fmla="val 9412"/>
            </a:avLst>
          </a:prstGeom>
          <a:solidFill>
            <a:srgbClr val="FFF1D6"/>
          </a:solidFill>
          <a:ln w="12700">
            <a:solidFill>
              <a:srgbClr val="FFF1D6"/>
            </a:solidFill>
            <a:prstDash val="solid"/>
          </a:ln>
        </p:spPr>
      </p:sp>
      <p:sp>
        <p:nvSpPr>
          <p:cNvPr id="18" name="req-texto-RF-8"/>
          <p:cNvSpPr txBox="1"/>
          <p:nvPr/>
        </p:nvSpPr>
        <p:spPr>
          <a:xfrm>
            <a:off x="7205472" y="2377440"/>
            <a:ext cx="1828800" cy="640080"/>
          </a:xfrm>
          <a:prstGeom prst="rect">
            <a:avLst/>
          </a:prstGeom>
          <a:noFill/>
          <a:ln/>
        </p:spPr>
        <p:txBody>
          <a:bodyPr wrap="square" lIns="0" tIns="0" rIns="0" bIns="0" rtlCol="0" anchor="t"/>
          <a:lstStyle/>
          <a:p>
            <a:pPr indent="0" marL="0">
              <a:buNone/>
            </a:pPr>
            <a:r>
              <a:rPr lang="en-US" sz="1400" b="1" dirty="0">
                <a:solidFill>
                  <a:srgbClr val="8A5300"/>
                </a:solidFill>
              </a:rPr>
              <a:t>RF-8</a:t>
            </a:r>
            <a:endParaRPr lang="en-US" sz="1400" dirty="0"/>
          </a:p>
          <a:p>
            <a:pPr indent="0" marL="0">
              <a:buNone/>
            </a:pPr>
            <a:r>
              <a:rPr lang="en-US" sz="1400" dirty="0">
                <a:solidFill>
                  <a:schemeClr val="tx1"/>
                </a:solidFill>
              </a:rPr>
              <a:t>Incidentes y pánico</a:t>
            </a:r>
            <a:endParaRPr lang="en-US" sz="1400" dirty="0"/>
          </a:p>
        </p:txBody>
      </p:sp>
      <p:sp>
        <p:nvSpPr>
          <p:cNvPr id="19" name="req-RF-9"/>
          <p:cNvSpPr/>
          <p:nvPr/>
        </p:nvSpPr>
        <p:spPr>
          <a:xfrm>
            <a:off x="548640" y="3200400"/>
            <a:ext cx="2029968" cy="777240"/>
          </a:xfrm>
          <a:prstGeom prst="roundRect">
            <a:avLst>
              <a:gd name="adj" fmla="val 9412"/>
            </a:avLst>
          </a:prstGeom>
          <a:solidFill>
            <a:srgbClr val="FFF1D6"/>
          </a:solidFill>
          <a:ln w="12700">
            <a:solidFill>
              <a:srgbClr val="FFF1D6"/>
            </a:solidFill>
            <a:prstDash val="solid"/>
          </a:ln>
        </p:spPr>
      </p:sp>
      <p:sp>
        <p:nvSpPr>
          <p:cNvPr id="20" name="req-texto-RF-9"/>
          <p:cNvSpPr txBox="1"/>
          <p:nvPr/>
        </p:nvSpPr>
        <p:spPr>
          <a:xfrm>
            <a:off x="676656" y="3291840"/>
            <a:ext cx="1828800" cy="640080"/>
          </a:xfrm>
          <a:prstGeom prst="rect">
            <a:avLst/>
          </a:prstGeom>
          <a:noFill/>
          <a:ln/>
        </p:spPr>
        <p:txBody>
          <a:bodyPr wrap="square" lIns="0" tIns="0" rIns="0" bIns="0" rtlCol="0" anchor="t"/>
          <a:lstStyle/>
          <a:p>
            <a:pPr indent="0" marL="0">
              <a:buNone/>
            </a:pPr>
            <a:r>
              <a:rPr lang="en-US" sz="1400" b="1" dirty="0">
                <a:solidFill>
                  <a:srgbClr val="8A5300"/>
                </a:solidFill>
              </a:rPr>
              <a:t>RF-9</a:t>
            </a:r>
            <a:endParaRPr lang="en-US" sz="1400" dirty="0"/>
          </a:p>
          <a:p>
            <a:pPr indent="0" marL="0">
              <a:buNone/>
            </a:pPr>
            <a:r>
              <a:rPr lang="en-US" sz="1400" dirty="0">
                <a:solidFill>
                  <a:schemeClr val="tx1"/>
                </a:solidFill>
              </a:rPr>
              <a:t>Pago con tarjeta</a:t>
            </a:r>
            <a:endParaRPr lang="en-US" sz="1400" dirty="0"/>
          </a:p>
        </p:txBody>
      </p:sp>
      <p:sp>
        <p:nvSpPr>
          <p:cNvPr id="21" name="req-RF-10"/>
          <p:cNvSpPr/>
          <p:nvPr/>
        </p:nvSpPr>
        <p:spPr>
          <a:xfrm>
            <a:off x="2724912" y="3200400"/>
            <a:ext cx="2029968" cy="777240"/>
          </a:xfrm>
          <a:prstGeom prst="roundRect">
            <a:avLst>
              <a:gd name="adj" fmla="val 9412"/>
            </a:avLst>
          </a:prstGeom>
          <a:solidFill>
            <a:srgbClr val="E7F5E1"/>
          </a:solidFill>
          <a:ln w="12700">
            <a:solidFill>
              <a:srgbClr val="E7F5E1"/>
            </a:solidFill>
            <a:prstDash val="solid"/>
          </a:ln>
        </p:spPr>
      </p:sp>
      <p:sp>
        <p:nvSpPr>
          <p:cNvPr id="22" name="req-texto-RF-10"/>
          <p:cNvSpPr txBox="1"/>
          <p:nvPr/>
        </p:nvSpPr>
        <p:spPr>
          <a:xfrm>
            <a:off x="2852928" y="3291840"/>
            <a:ext cx="1828800" cy="640080"/>
          </a:xfrm>
          <a:prstGeom prst="rect">
            <a:avLst/>
          </a:prstGeom>
          <a:noFill/>
          <a:ln/>
        </p:spPr>
        <p:txBody>
          <a:bodyPr wrap="square" lIns="0" tIns="0" rIns="0" bIns="0" rtlCol="0" anchor="t"/>
          <a:lstStyle/>
          <a:p>
            <a:pPr indent="0" marL="0">
              <a:buNone/>
            </a:pPr>
            <a:r>
              <a:rPr lang="en-US" sz="1400" b="1" dirty="0">
                <a:solidFill>
                  <a:srgbClr val="2E7D32"/>
                </a:solidFill>
              </a:rPr>
              <a:t>RF-10</a:t>
            </a:r>
            <a:endParaRPr lang="en-US" sz="1400" dirty="0"/>
          </a:p>
          <a:p>
            <a:pPr indent="0" marL="0">
              <a:buNone/>
            </a:pPr>
            <a:r>
              <a:rPr lang="en-US" sz="1400" dirty="0">
                <a:solidFill>
                  <a:schemeClr val="tx1"/>
                </a:solidFill>
              </a:rPr>
              <a:t>Reportes</a:t>
            </a:r>
            <a:endParaRPr lang="en-US" sz="1400" dirty="0"/>
          </a:p>
        </p:txBody>
      </p:sp>
      <p:sp>
        <p:nvSpPr>
          <p:cNvPr id="23" name="req-RF-11"/>
          <p:cNvSpPr/>
          <p:nvPr/>
        </p:nvSpPr>
        <p:spPr>
          <a:xfrm>
            <a:off x="4901184" y="3200400"/>
            <a:ext cx="2029968" cy="777240"/>
          </a:xfrm>
          <a:prstGeom prst="roundRect">
            <a:avLst>
              <a:gd name="adj" fmla="val 9412"/>
            </a:avLst>
          </a:prstGeom>
          <a:solidFill>
            <a:srgbClr val="E7F5E1"/>
          </a:solidFill>
          <a:ln w="12700">
            <a:solidFill>
              <a:srgbClr val="E7F5E1"/>
            </a:solidFill>
            <a:prstDash val="solid"/>
          </a:ln>
        </p:spPr>
      </p:sp>
      <p:sp>
        <p:nvSpPr>
          <p:cNvPr id="24" name="req-texto-RF-11"/>
          <p:cNvSpPr txBox="1"/>
          <p:nvPr/>
        </p:nvSpPr>
        <p:spPr>
          <a:xfrm>
            <a:off x="5029200" y="3291840"/>
            <a:ext cx="1828800" cy="640080"/>
          </a:xfrm>
          <a:prstGeom prst="rect">
            <a:avLst/>
          </a:prstGeom>
          <a:noFill/>
          <a:ln/>
        </p:spPr>
        <p:txBody>
          <a:bodyPr wrap="square" lIns="0" tIns="0" rIns="0" bIns="0" rtlCol="0" anchor="t"/>
          <a:lstStyle/>
          <a:p>
            <a:pPr indent="0" marL="0">
              <a:buNone/>
            </a:pPr>
            <a:r>
              <a:rPr lang="en-US" sz="1400" b="1" dirty="0">
                <a:solidFill>
                  <a:srgbClr val="2E7D32"/>
                </a:solidFill>
              </a:rPr>
              <a:t>RF-11</a:t>
            </a:r>
            <a:endParaRPr lang="en-US" sz="1400" dirty="0"/>
          </a:p>
          <a:p>
            <a:pPr indent="0" marL="0">
              <a:buNone/>
            </a:pPr>
            <a:r>
              <a:rPr lang="en-US" sz="1400" dirty="0">
                <a:solidFill>
                  <a:schemeClr val="tx1"/>
                </a:solidFill>
              </a:rPr>
              <a:t>Tableros</a:t>
            </a:r>
            <a:endParaRPr lang="en-US" sz="1400" dirty="0"/>
          </a:p>
        </p:txBody>
      </p:sp>
      <p:sp>
        <p:nvSpPr>
          <p:cNvPr id="25" name="req-RF-12"/>
          <p:cNvSpPr/>
          <p:nvPr/>
        </p:nvSpPr>
        <p:spPr>
          <a:xfrm>
            <a:off x="7077456" y="3200400"/>
            <a:ext cx="2029968" cy="777240"/>
          </a:xfrm>
          <a:prstGeom prst="roundRect">
            <a:avLst>
              <a:gd name="adj" fmla="val 9412"/>
            </a:avLst>
          </a:prstGeom>
          <a:solidFill>
            <a:srgbClr val="FDE7E4"/>
          </a:solidFill>
          <a:ln w="12700">
            <a:solidFill>
              <a:srgbClr val="FDE7E4"/>
            </a:solidFill>
            <a:prstDash val="solid"/>
          </a:ln>
        </p:spPr>
      </p:sp>
      <p:sp>
        <p:nvSpPr>
          <p:cNvPr id="26" name="req-texto-RF-12"/>
          <p:cNvSpPr txBox="1"/>
          <p:nvPr/>
        </p:nvSpPr>
        <p:spPr>
          <a:xfrm>
            <a:off x="7205472" y="3291840"/>
            <a:ext cx="1828800" cy="640080"/>
          </a:xfrm>
          <a:prstGeom prst="rect">
            <a:avLst/>
          </a:prstGeom>
          <a:noFill/>
          <a:ln/>
        </p:spPr>
        <p:txBody>
          <a:bodyPr wrap="square" lIns="0" tIns="0" rIns="0" bIns="0" rtlCol="0" anchor="t"/>
          <a:lstStyle/>
          <a:p>
            <a:pPr indent="0" marL="0">
              <a:buNone/>
            </a:pPr>
            <a:r>
              <a:rPr lang="en-US" sz="1400" b="1" dirty="0">
                <a:solidFill>
                  <a:srgbClr val="B42318"/>
                </a:solidFill>
              </a:rPr>
              <a:t>RF-12</a:t>
            </a:r>
            <a:endParaRPr lang="en-US" sz="1400" dirty="0"/>
          </a:p>
          <a:p>
            <a:pPr indent="0" marL="0">
              <a:buNone/>
            </a:pPr>
            <a:r>
              <a:rPr lang="en-US" sz="1400" dirty="0">
                <a:solidFill>
                  <a:schemeClr val="tx1"/>
                </a:solidFill>
              </a:rPr>
              <a:t>Sin conexión</a:t>
            </a:r>
            <a:endParaRPr lang="en-US" sz="1400" dirty="0"/>
          </a:p>
        </p:txBody>
      </p:sp>
      <p:sp>
        <p:nvSpPr>
          <p:cNvPr id="27" name="req-RNF-1"/>
          <p:cNvSpPr/>
          <p:nvPr/>
        </p:nvSpPr>
        <p:spPr>
          <a:xfrm>
            <a:off x="548640" y="4114800"/>
            <a:ext cx="2029968" cy="777240"/>
          </a:xfrm>
          <a:prstGeom prst="roundRect">
            <a:avLst>
              <a:gd name="adj" fmla="val 9412"/>
            </a:avLst>
          </a:prstGeom>
          <a:solidFill>
            <a:srgbClr val="FFF1D6"/>
          </a:solidFill>
          <a:ln w="12700">
            <a:solidFill>
              <a:srgbClr val="FFF1D6"/>
            </a:solidFill>
            <a:prstDash val="solid"/>
          </a:ln>
        </p:spPr>
      </p:sp>
      <p:sp>
        <p:nvSpPr>
          <p:cNvPr id="28" name="req-texto-RNF-1"/>
          <p:cNvSpPr txBox="1"/>
          <p:nvPr/>
        </p:nvSpPr>
        <p:spPr>
          <a:xfrm>
            <a:off x="676656" y="4206240"/>
            <a:ext cx="1828800" cy="640080"/>
          </a:xfrm>
          <a:prstGeom prst="rect">
            <a:avLst/>
          </a:prstGeom>
          <a:noFill/>
          <a:ln/>
        </p:spPr>
        <p:txBody>
          <a:bodyPr wrap="square" lIns="0" tIns="0" rIns="0" bIns="0" rtlCol="0" anchor="t"/>
          <a:lstStyle/>
          <a:p>
            <a:pPr indent="0" marL="0">
              <a:buNone/>
            </a:pPr>
            <a:r>
              <a:rPr lang="en-US" sz="1400" b="1" dirty="0">
                <a:solidFill>
                  <a:srgbClr val="8A5300"/>
                </a:solidFill>
              </a:rPr>
              <a:t>RNF-1</a:t>
            </a:r>
            <a:endParaRPr lang="en-US" sz="1400" dirty="0"/>
          </a:p>
          <a:p>
            <a:pPr indent="0" marL="0">
              <a:buNone/>
            </a:pPr>
            <a:r>
              <a:rPr lang="en-US" sz="1400" dirty="0">
                <a:solidFill>
                  <a:schemeClr val="tx1"/>
                </a:solidFill>
              </a:rPr>
              <a:t>Disponible 24 h</a:t>
            </a:r>
            <a:endParaRPr lang="en-US" sz="1400" dirty="0"/>
          </a:p>
        </p:txBody>
      </p:sp>
      <p:sp>
        <p:nvSpPr>
          <p:cNvPr id="29" name="req-RNF-2"/>
          <p:cNvSpPr/>
          <p:nvPr/>
        </p:nvSpPr>
        <p:spPr>
          <a:xfrm>
            <a:off x="2724912" y="4114800"/>
            <a:ext cx="2029968" cy="777240"/>
          </a:xfrm>
          <a:prstGeom prst="roundRect">
            <a:avLst>
              <a:gd name="adj" fmla="val 9412"/>
            </a:avLst>
          </a:prstGeom>
          <a:solidFill>
            <a:srgbClr val="E7F5E1"/>
          </a:solidFill>
          <a:ln w="12700">
            <a:solidFill>
              <a:srgbClr val="E7F5E1"/>
            </a:solidFill>
            <a:prstDash val="solid"/>
          </a:ln>
        </p:spPr>
      </p:sp>
      <p:sp>
        <p:nvSpPr>
          <p:cNvPr id="30" name="req-texto-RNF-2"/>
          <p:cNvSpPr txBox="1"/>
          <p:nvPr/>
        </p:nvSpPr>
        <p:spPr>
          <a:xfrm>
            <a:off x="2852928" y="4206240"/>
            <a:ext cx="1828800" cy="640080"/>
          </a:xfrm>
          <a:prstGeom prst="rect">
            <a:avLst/>
          </a:prstGeom>
          <a:noFill/>
          <a:ln/>
        </p:spPr>
        <p:txBody>
          <a:bodyPr wrap="square" lIns="0" tIns="0" rIns="0" bIns="0" rtlCol="0" anchor="t"/>
          <a:lstStyle/>
          <a:p>
            <a:pPr indent="0" marL="0">
              <a:buNone/>
            </a:pPr>
            <a:r>
              <a:rPr lang="en-US" sz="1400" b="1" dirty="0">
                <a:solidFill>
                  <a:srgbClr val="2E7D32"/>
                </a:solidFill>
              </a:rPr>
              <a:t>RNF-2</a:t>
            </a:r>
            <a:endParaRPr lang="en-US" sz="1400" dirty="0"/>
          </a:p>
          <a:p>
            <a:pPr indent="0" marL="0">
              <a:buNone/>
            </a:pPr>
            <a:r>
              <a:rPr lang="en-US" sz="1400" dirty="0">
                <a:solidFill>
                  <a:schemeClr val="tx1"/>
                </a:solidFill>
              </a:rPr>
              <a:t>Tiempo real</a:t>
            </a:r>
            <a:endParaRPr lang="en-US" sz="1400" dirty="0"/>
          </a:p>
        </p:txBody>
      </p:sp>
      <p:sp>
        <p:nvSpPr>
          <p:cNvPr id="31" name="req-RNF-3"/>
          <p:cNvSpPr/>
          <p:nvPr/>
        </p:nvSpPr>
        <p:spPr>
          <a:xfrm>
            <a:off x="4901184" y="4114800"/>
            <a:ext cx="2029968" cy="777240"/>
          </a:xfrm>
          <a:prstGeom prst="roundRect">
            <a:avLst>
              <a:gd name="adj" fmla="val 9412"/>
            </a:avLst>
          </a:prstGeom>
          <a:solidFill>
            <a:srgbClr val="FFF1D6"/>
          </a:solidFill>
          <a:ln w="12700">
            <a:solidFill>
              <a:srgbClr val="FFF1D6"/>
            </a:solidFill>
            <a:prstDash val="solid"/>
          </a:ln>
        </p:spPr>
      </p:sp>
      <p:sp>
        <p:nvSpPr>
          <p:cNvPr id="32" name="req-texto-RNF-3"/>
          <p:cNvSpPr txBox="1"/>
          <p:nvPr/>
        </p:nvSpPr>
        <p:spPr>
          <a:xfrm>
            <a:off x="5029200" y="4206240"/>
            <a:ext cx="1828800" cy="640080"/>
          </a:xfrm>
          <a:prstGeom prst="rect">
            <a:avLst/>
          </a:prstGeom>
          <a:noFill/>
          <a:ln/>
        </p:spPr>
        <p:txBody>
          <a:bodyPr wrap="square" lIns="0" tIns="0" rIns="0" bIns="0" rtlCol="0" anchor="t"/>
          <a:lstStyle/>
          <a:p>
            <a:pPr indent="0" marL="0">
              <a:buNone/>
            </a:pPr>
            <a:r>
              <a:rPr lang="en-US" sz="1400" b="1" dirty="0">
                <a:solidFill>
                  <a:srgbClr val="8A5300"/>
                </a:solidFill>
              </a:rPr>
              <a:t>RNF-3</a:t>
            </a:r>
            <a:endParaRPr lang="en-US" sz="1400" dirty="0"/>
          </a:p>
          <a:p>
            <a:pPr indent="0" marL="0">
              <a:buNone/>
            </a:pPr>
            <a:r>
              <a:rPr lang="en-US" sz="1400" dirty="0">
                <a:solidFill>
                  <a:schemeClr val="tx1"/>
                </a:solidFill>
              </a:rPr>
              <a:t>Cifrado y roles</a:t>
            </a:r>
            <a:endParaRPr lang="en-US" sz="1400" dirty="0"/>
          </a:p>
        </p:txBody>
      </p:sp>
      <p:sp>
        <p:nvSpPr>
          <p:cNvPr id="33" name="req-RNF-4"/>
          <p:cNvSpPr/>
          <p:nvPr/>
        </p:nvSpPr>
        <p:spPr>
          <a:xfrm>
            <a:off x="7077456" y="4114800"/>
            <a:ext cx="2029968" cy="777240"/>
          </a:xfrm>
          <a:prstGeom prst="roundRect">
            <a:avLst>
              <a:gd name="adj" fmla="val 9412"/>
            </a:avLst>
          </a:prstGeom>
          <a:solidFill>
            <a:srgbClr val="E7F5E1"/>
          </a:solidFill>
          <a:ln w="12700">
            <a:solidFill>
              <a:srgbClr val="E7F5E1"/>
            </a:solidFill>
            <a:prstDash val="solid"/>
          </a:ln>
        </p:spPr>
      </p:sp>
      <p:sp>
        <p:nvSpPr>
          <p:cNvPr id="34" name="req-texto-RNF-4"/>
          <p:cNvSpPr txBox="1"/>
          <p:nvPr/>
        </p:nvSpPr>
        <p:spPr>
          <a:xfrm>
            <a:off x="7205472" y="4206240"/>
            <a:ext cx="1828800" cy="640080"/>
          </a:xfrm>
          <a:prstGeom prst="rect">
            <a:avLst/>
          </a:prstGeom>
          <a:noFill/>
          <a:ln/>
        </p:spPr>
        <p:txBody>
          <a:bodyPr wrap="square" lIns="0" tIns="0" rIns="0" bIns="0" rtlCol="0" anchor="t"/>
          <a:lstStyle/>
          <a:p>
            <a:pPr indent="0" marL="0">
              <a:buNone/>
            </a:pPr>
            <a:r>
              <a:rPr lang="en-US" sz="1400" b="1" dirty="0">
                <a:solidFill>
                  <a:srgbClr val="2E7D32"/>
                </a:solidFill>
              </a:rPr>
              <a:t>RNF-4</a:t>
            </a:r>
            <a:endParaRPr lang="en-US" sz="1400" dirty="0"/>
          </a:p>
          <a:p>
            <a:pPr indent="0" marL="0">
              <a:buNone/>
            </a:pPr>
            <a:r>
              <a:rPr lang="en-US" sz="1400" dirty="0">
                <a:solidFill>
                  <a:schemeClr val="tx1"/>
                </a:solidFill>
              </a:rPr>
              <a:t>Crecimiento</a:t>
            </a:r>
            <a:endParaRPr lang="en-US" sz="1400" dirty="0"/>
          </a:p>
        </p:txBody>
      </p:sp>
      <p:sp>
        <p:nvSpPr>
          <p:cNvPr id="35" name="req-RNF-5"/>
          <p:cNvSpPr/>
          <p:nvPr/>
        </p:nvSpPr>
        <p:spPr>
          <a:xfrm>
            <a:off x="548640" y="5029200"/>
            <a:ext cx="2029968" cy="777240"/>
          </a:xfrm>
          <a:prstGeom prst="roundRect">
            <a:avLst>
              <a:gd name="adj" fmla="val 9412"/>
            </a:avLst>
          </a:prstGeom>
          <a:solidFill>
            <a:srgbClr val="FFF1D6"/>
          </a:solidFill>
          <a:ln w="12700">
            <a:solidFill>
              <a:srgbClr val="FFF1D6"/>
            </a:solidFill>
            <a:prstDash val="solid"/>
          </a:ln>
        </p:spPr>
      </p:sp>
      <p:sp>
        <p:nvSpPr>
          <p:cNvPr id="36" name="req-texto-RNF-5"/>
          <p:cNvSpPr txBox="1"/>
          <p:nvPr/>
        </p:nvSpPr>
        <p:spPr>
          <a:xfrm>
            <a:off x="676656" y="5120640"/>
            <a:ext cx="1828800" cy="640080"/>
          </a:xfrm>
          <a:prstGeom prst="rect">
            <a:avLst/>
          </a:prstGeom>
          <a:noFill/>
          <a:ln/>
        </p:spPr>
        <p:txBody>
          <a:bodyPr wrap="square" lIns="0" tIns="0" rIns="0" bIns="0" rtlCol="0" anchor="t"/>
          <a:lstStyle/>
          <a:p>
            <a:pPr indent="0" marL="0">
              <a:buNone/>
            </a:pPr>
            <a:r>
              <a:rPr lang="en-US" sz="1400" b="1" dirty="0">
                <a:solidFill>
                  <a:srgbClr val="8A5300"/>
                </a:solidFill>
              </a:rPr>
              <a:t>RNF-5</a:t>
            </a:r>
            <a:endParaRPr lang="en-US" sz="1400" dirty="0"/>
          </a:p>
          <a:p>
            <a:pPr indent="0" marL="0">
              <a:buNone/>
            </a:pPr>
            <a:r>
              <a:rPr lang="en-US" sz="1400" dirty="0">
                <a:solidFill>
                  <a:schemeClr val="tx1"/>
                </a:solidFill>
              </a:rPr>
              <a:t>Integración futura</a:t>
            </a:r>
            <a:endParaRPr lang="en-US" sz="1400" dirty="0"/>
          </a:p>
        </p:txBody>
      </p:sp>
      <p:sp>
        <p:nvSpPr>
          <p:cNvPr id="37" name="req-RNF-6"/>
          <p:cNvSpPr/>
          <p:nvPr/>
        </p:nvSpPr>
        <p:spPr>
          <a:xfrm>
            <a:off x="2724912" y="5029200"/>
            <a:ext cx="2029968" cy="777240"/>
          </a:xfrm>
          <a:prstGeom prst="roundRect">
            <a:avLst>
              <a:gd name="adj" fmla="val 9412"/>
            </a:avLst>
          </a:prstGeom>
          <a:solidFill>
            <a:srgbClr val="E7F5E1"/>
          </a:solidFill>
          <a:ln w="12700">
            <a:solidFill>
              <a:srgbClr val="E7F5E1"/>
            </a:solidFill>
            <a:prstDash val="solid"/>
          </a:ln>
        </p:spPr>
      </p:sp>
      <p:sp>
        <p:nvSpPr>
          <p:cNvPr id="38" name="req-texto-RNF-6"/>
          <p:cNvSpPr txBox="1"/>
          <p:nvPr/>
        </p:nvSpPr>
        <p:spPr>
          <a:xfrm>
            <a:off x="2852928" y="5120640"/>
            <a:ext cx="1828800" cy="640080"/>
          </a:xfrm>
          <a:prstGeom prst="rect">
            <a:avLst/>
          </a:prstGeom>
          <a:noFill/>
          <a:ln/>
        </p:spPr>
        <p:txBody>
          <a:bodyPr wrap="square" lIns="0" tIns="0" rIns="0" bIns="0" rtlCol="0" anchor="t"/>
          <a:lstStyle/>
          <a:p>
            <a:pPr indent="0" marL="0">
              <a:buNone/>
            </a:pPr>
            <a:r>
              <a:rPr lang="en-US" sz="1400" b="1" dirty="0">
                <a:solidFill>
                  <a:srgbClr val="2E7D32"/>
                </a:solidFill>
              </a:rPr>
              <a:t>RNF-6</a:t>
            </a:r>
            <a:endParaRPr lang="en-US" sz="1400" dirty="0"/>
          </a:p>
          <a:p>
            <a:pPr indent="0" marL="0">
              <a:buNone/>
            </a:pPr>
            <a:r>
              <a:rPr lang="en-US" sz="1400" dirty="0">
                <a:solidFill>
                  <a:schemeClr val="tx1"/>
                </a:solidFill>
              </a:rPr>
              <a:t>Historial</a:t>
            </a:r>
            <a:endParaRPr lang="en-US" sz="1400" dirty="0"/>
          </a:p>
        </p:txBody>
      </p:sp>
      <p:sp>
        <p:nvSpPr>
          <p:cNvPr id="39" name="req-RNF-7"/>
          <p:cNvSpPr/>
          <p:nvPr/>
        </p:nvSpPr>
        <p:spPr>
          <a:xfrm>
            <a:off x="4901184" y="5029200"/>
            <a:ext cx="2029968" cy="777240"/>
          </a:xfrm>
          <a:prstGeom prst="roundRect">
            <a:avLst>
              <a:gd name="adj" fmla="val 9412"/>
            </a:avLst>
          </a:prstGeom>
          <a:solidFill>
            <a:srgbClr val="FFF1D6"/>
          </a:solidFill>
          <a:ln w="12700">
            <a:solidFill>
              <a:srgbClr val="FFF1D6"/>
            </a:solidFill>
            <a:prstDash val="solid"/>
          </a:ln>
        </p:spPr>
      </p:sp>
      <p:sp>
        <p:nvSpPr>
          <p:cNvPr id="40" name="req-texto-RNF-7"/>
          <p:cNvSpPr txBox="1"/>
          <p:nvPr/>
        </p:nvSpPr>
        <p:spPr>
          <a:xfrm>
            <a:off x="5029200" y="5120640"/>
            <a:ext cx="1828800" cy="640080"/>
          </a:xfrm>
          <a:prstGeom prst="rect">
            <a:avLst/>
          </a:prstGeom>
          <a:noFill/>
          <a:ln/>
        </p:spPr>
        <p:txBody>
          <a:bodyPr wrap="square" lIns="0" tIns="0" rIns="0" bIns="0" rtlCol="0" anchor="t"/>
          <a:lstStyle/>
          <a:p>
            <a:pPr indent="0" marL="0">
              <a:buNone/>
            </a:pPr>
            <a:r>
              <a:rPr lang="en-US" sz="1400" b="1" dirty="0">
                <a:solidFill>
                  <a:srgbClr val="8A5300"/>
                </a:solidFill>
              </a:rPr>
              <a:t>RNF-7</a:t>
            </a:r>
            <a:endParaRPr lang="en-US" sz="1400" dirty="0"/>
          </a:p>
          <a:p>
            <a:pPr indent="0" marL="0">
              <a:buNone/>
            </a:pPr>
            <a:r>
              <a:rPr lang="en-US" sz="1400" dirty="0">
                <a:solidFill>
                  <a:schemeClr val="tx1"/>
                </a:solidFill>
              </a:rPr>
              <a:t>Respaldo</a:t>
            </a:r>
            <a:endParaRPr lang="en-US" sz="1400" dirty="0"/>
          </a:p>
        </p:txBody>
      </p:sp>
      <p:sp>
        <p:nvSpPr>
          <p:cNvPr id="41" name="leyenda-ok"/>
          <p:cNvSpPr/>
          <p:nvPr/>
        </p:nvSpPr>
        <p:spPr>
          <a:xfrm>
            <a:off x="9418320" y="1463040"/>
            <a:ext cx="365760" cy="365760"/>
          </a:xfrm>
          <a:prstGeom prst="roundRect">
            <a:avLst>
              <a:gd name="adj" fmla="val 15000"/>
            </a:avLst>
          </a:prstGeom>
          <a:solidFill>
            <a:srgbClr val="E7F5E1"/>
          </a:solidFill>
          <a:ln w="12700">
            <a:solidFill>
              <a:srgbClr val="2E7D32"/>
            </a:solidFill>
            <a:prstDash val="solid"/>
          </a:ln>
        </p:spPr>
      </p:sp>
      <p:sp>
        <p:nvSpPr>
          <p:cNvPr id="42" name="leyenda-texto-ok"/>
          <p:cNvSpPr txBox="1"/>
          <p:nvPr/>
        </p:nvSpPr>
        <p:spPr>
          <a:xfrm>
            <a:off x="9921240" y="1426464"/>
            <a:ext cx="1783080" cy="868680"/>
          </a:xfrm>
          <a:prstGeom prst="rect">
            <a:avLst/>
          </a:prstGeom>
          <a:noFill/>
          <a:ln/>
        </p:spPr>
        <p:txBody>
          <a:bodyPr wrap="square" lIns="0" tIns="0" rIns="0" bIns="0" rtlCol="0" anchor="t"/>
          <a:lstStyle/>
          <a:p>
            <a:pPr indent="0" marL="0">
              <a:buNone/>
            </a:pPr>
            <a:r>
              <a:rPr lang="en-US" sz="1300" dirty="0">
                <a:solidFill>
                  <a:schemeClr val="tx1"/>
                </a:solidFill>
              </a:rPr>
              <a:t>Completo (11)</a:t>
            </a:r>
            <a:endParaRPr lang="en-US" sz="1300" dirty="0"/>
          </a:p>
        </p:txBody>
      </p:sp>
      <p:sp>
        <p:nvSpPr>
          <p:cNvPr id="43" name="leyenda-par"/>
          <p:cNvSpPr/>
          <p:nvPr/>
        </p:nvSpPr>
        <p:spPr>
          <a:xfrm>
            <a:off x="9418320" y="2423160"/>
            <a:ext cx="365760" cy="365760"/>
          </a:xfrm>
          <a:prstGeom prst="roundRect">
            <a:avLst>
              <a:gd name="adj" fmla="val 15000"/>
            </a:avLst>
          </a:prstGeom>
          <a:solidFill>
            <a:srgbClr val="FFF1D6"/>
          </a:solidFill>
          <a:ln w="12700">
            <a:solidFill>
              <a:srgbClr val="8A5300"/>
            </a:solidFill>
            <a:prstDash val="solid"/>
          </a:ln>
        </p:spPr>
      </p:sp>
      <p:sp>
        <p:nvSpPr>
          <p:cNvPr id="44" name="leyenda-texto-par"/>
          <p:cNvSpPr txBox="1"/>
          <p:nvPr/>
        </p:nvSpPr>
        <p:spPr>
          <a:xfrm>
            <a:off x="9921240" y="2386584"/>
            <a:ext cx="1783080" cy="868680"/>
          </a:xfrm>
          <a:prstGeom prst="rect">
            <a:avLst/>
          </a:prstGeom>
          <a:noFill/>
          <a:ln/>
        </p:spPr>
        <p:txBody>
          <a:bodyPr wrap="square" lIns="0" tIns="0" rIns="0" bIns="0" rtlCol="0" anchor="t"/>
          <a:lstStyle/>
          <a:p>
            <a:pPr indent="0" marL="0">
              <a:buNone/>
            </a:pPr>
            <a:r>
              <a:rPr lang="en-US" sz="1300" dirty="0">
                <a:solidFill>
                  <a:schemeClr val="tx1"/>
                </a:solidFill>
              </a:rPr>
              <a:t>Software listo; hardware, proveedor o configuración por integrar (7)</a:t>
            </a:r>
            <a:endParaRPr lang="en-US" sz="1300" dirty="0"/>
          </a:p>
        </p:txBody>
      </p:sp>
      <p:sp>
        <p:nvSpPr>
          <p:cNvPr id="45" name="leyenda-f2"/>
          <p:cNvSpPr/>
          <p:nvPr/>
        </p:nvSpPr>
        <p:spPr>
          <a:xfrm>
            <a:off x="9418320" y="3383280"/>
            <a:ext cx="365760" cy="365760"/>
          </a:xfrm>
          <a:prstGeom prst="roundRect">
            <a:avLst>
              <a:gd name="adj" fmla="val 15000"/>
            </a:avLst>
          </a:prstGeom>
          <a:solidFill>
            <a:srgbClr val="FDE7E4"/>
          </a:solidFill>
          <a:ln w="12700">
            <a:solidFill>
              <a:srgbClr val="B42318"/>
            </a:solidFill>
            <a:prstDash val="solid"/>
          </a:ln>
        </p:spPr>
      </p:sp>
      <p:sp>
        <p:nvSpPr>
          <p:cNvPr id="46" name="leyenda-texto-f2"/>
          <p:cNvSpPr txBox="1"/>
          <p:nvPr/>
        </p:nvSpPr>
        <p:spPr>
          <a:xfrm>
            <a:off x="9921240" y="3346704"/>
            <a:ext cx="1783080" cy="868680"/>
          </a:xfrm>
          <a:prstGeom prst="rect">
            <a:avLst/>
          </a:prstGeom>
          <a:noFill/>
          <a:ln/>
        </p:spPr>
        <p:txBody>
          <a:bodyPr wrap="square" lIns="0" tIns="0" rIns="0" bIns="0" rtlCol="0" anchor="t"/>
          <a:lstStyle/>
          <a:p>
            <a:pPr indent="0" marL="0">
              <a:buNone/>
            </a:pPr>
            <a:r>
              <a:rPr lang="en-US" sz="1300" dirty="0">
                <a:solidFill>
                  <a:schemeClr val="tx1"/>
                </a:solidFill>
              </a:rPr>
              <a:t>Fase 2 (1)</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Arquitectura cliente-servidor en tres capas</a:t>
            </a:r>
            <a:endParaRPr lang="en-US" sz="3200" dirty="0"/>
          </a:p>
        </p:txBody>
      </p:sp>
      <p:sp>
        <p:nvSpPr>
          <p:cNvPr id="3" name="capa-0"/>
          <p:cNvSpPr/>
          <p:nvPr/>
        </p:nvSpPr>
        <p:spPr>
          <a:xfrm>
            <a:off x="548640" y="1554480"/>
            <a:ext cx="3291840" cy="3108960"/>
          </a:xfrm>
          <a:prstGeom prst="roundRect">
            <a:avLst>
              <a:gd name="adj" fmla="val 2353"/>
            </a:avLst>
          </a:prstGeom>
          <a:solidFill>
            <a:schemeClr val="bg2"/>
          </a:solidFill>
          <a:ln w="12700">
            <a:solidFill>
              <a:schemeClr val="bg2"/>
            </a:solidFill>
            <a:prstDash val="solid"/>
          </a:ln>
        </p:spPr>
      </p:sp>
      <p:sp>
        <p:nvSpPr>
          <p:cNvPr id="4" name="icono-capa-0-fondo"/>
          <p:cNvSpPr/>
          <p:nvPr/>
        </p:nvSpPr>
        <p:spPr>
          <a:xfrm>
            <a:off x="1828800" y="1783080"/>
            <a:ext cx="731520" cy="731520"/>
          </a:xfrm>
          <a:prstGeom prst="ellipse">
            <a:avLst/>
          </a:prstGeom>
          <a:solidFill>
            <a:schemeClr val="bg2"/>
          </a:solidFill>
          <a:ln w="12700">
            <a:solidFill>
              <a:schemeClr val="bg2"/>
            </a:solidFill>
            <a:prstDash val="solid"/>
          </a:ln>
        </p:spPr>
      </p:sp>
      <p:pic>
        <p:nvPicPr>
          <p:cNvPr id="5" name="icono-capa-0" descr="icono-capa-0">    </p:cNvPr>
          <p:cNvPicPr>
            <a:picLocks noChangeAspect="1"/>
          </p:cNvPicPr>
          <p:nvPr/>
        </p:nvPicPr>
        <p:blipFill>
          <a:blip r:embed="rId1"/>
          <a:stretch>
            <a:fillRect/>
          </a:stretch>
        </p:blipFill>
        <p:spPr>
          <a:xfrm>
            <a:off x="1989734" y="1944014"/>
            <a:ext cx="409651" cy="409651"/>
          </a:xfrm>
          <a:prstGeom prst="rect">
            <a:avLst/>
          </a:prstGeom>
        </p:spPr>
      </p:pic>
      <p:sp>
        <p:nvSpPr>
          <p:cNvPr id="6" name="capa-titulo-0"/>
          <p:cNvSpPr txBox="1"/>
          <p:nvPr/>
        </p:nvSpPr>
        <p:spPr>
          <a:xfrm>
            <a:off x="731520" y="2651760"/>
            <a:ext cx="2926080" cy="457200"/>
          </a:xfrm>
          <a:prstGeom prst="rect">
            <a:avLst/>
          </a:prstGeom>
          <a:noFill/>
          <a:ln/>
        </p:spPr>
        <p:txBody>
          <a:bodyPr wrap="square" lIns="0" tIns="0" rIns="0" bIns="0" rtlCol="0" anchor="t"/>
          <a:lstStyle/>
          <a:p>
            <a:pPr algn="ctr" indent="0" marL="0">
              <a:buNone/>
            </a:pPr>
            <a:r>
              <a:rPr lang="en-US" sz="1900" b="1" dirty="0">
                <a:solidFill>
                  <a:schemeClr val="tx1"/>
                </a:solidFill>
              </a:rPr>
              <a:t>Navegador</a:t>
            </a:r>
            <a:endParaRPr lang="en-US" sz="1900" dirty="0"/>
          </a:p>
        </p:txBody>
      </p:sp>
      <p:sp>
        <p:nvSpPr>
          <p:cNvPr id="7" name="capa-texto-0"/>
          <p:cNvSpPr txBox="1"/>
          <p:nvPr/>
        </p:nvSpPr>
        <p:spPr>
          <a:xfrm>
            <a:off x="731520" y="3154680"/>
            <a:ext cx="2926080" cy="1371600"/>
          </a:xfrm>
          <a:prstGeom prst="rect">
            <a:avLst/>
          </a:prstGeom>
          <a:noFill/>
          <a:ln/>
        </p:spPr>
        <p:txBody>
          <a:bodyPr wrap="square" lIns="0" tIns="0" rIns="0" bIns="0" rtlCol="0" anchor="t"/>
          <a:lstStyle/>
          <a:p>
            <a:pPr algn="ctr" indent="0" marL="0">
              <a:buNone/>
            </a:pPr>
            <a:r>
              <a:rPr lang="en-US" sz="1400" dirty="0">
                <a:solidFill>
                  <a:srgbClr val="4A4F63"/>
                </a:solidFill>
              </a:rPr>
              <a:t>React + Vite + Tailwind</a:t>
            </a:r>
            <a:endParaRPr lang="en-US" sz="1400" dirty="0"/>
          </a:p>
          <a:p>
            <a:pPr algn="ctr" indent="0" marL="0">
              <a:buNone/>
            </a:pPr>
            <a:r>
              <a:rPr lang="en-US" sz="1400" dirty="0">
                <a:solidFill>
                  <a:srgbClr val="4A4F63"/>
                </a:solidFill>
              </a:rPr>
              <a:t>Leaflet y Recharts</a:t>
            </a:r>
            <a:endParaRPr lang="en-US" sz="1400" dirty="0"/>
          </a:p>
          <a:p>
            <a:pPr algn="ctr" indent="0" marL="0">
              <a:buNone/>
            </a:pPr>
            <a:r>
              <a:rPr lang="en-US" sz="1400" dirty="0">
                <a:solidFill>
                  <a:srgbClr val="4A4F63"/>
                </a:solidFill>
              </a:rPr>
              <a:t>Rutas según el rol</a:t>
            </a:r>
            <a:endParaRPr lang="en-US" sz="1400" dirty="0"/>
          </a:p>
        </p:txBody>
      </p:sp>
      <p:sp>
        <p:nvSpPr>
          <p:cNvPr id="8" name="flecha-0"/>
          <p:cNvSpPr/>
          <p:nvPr/>
        </p:nvSpPr>
        <p:spPr>
          <a:xfrm>
            <a:off x="3913632" y="2880360"/>
            <a:ext cx="411480" cy="411480"/>
          </a:xfrm>
          <a:prstGeom prst="rightArrow">
            <a:avLst/>
          </a:prstGeom>
          <a:solidFill>
            <a:schemeClr val="accent2"/>
          </a:solidFill>
          <a:ln w="12700">
            <a:solidFill>
              <a:schemeClr val="accent2"/>
            </a:solidFill>
            <a:prstDash val="solid"/>
          </a:ln>
        </p:spPr>
      </p:sp>
      <p:sp>
        <p:nvSpPr>
          <p:cNvPr id="9" name="capa-1"/>
          <p:cNvSpPr/>
          <p:nvPr/>
        </p:nvSpPr>
        <p:spPr>
          <a:xfrm>
            <a:off x="4389120" y="1554480"/>
            <a:ext cx="3291840" cy="3108960"/>
          </a:xfrm>
          <a:prstGeom prst="roundRect">
            <a:avLst>
              <a:gd name="adj" fmla="val 2353"/>
            </a:avLst>
          </a:prstGeom>
          <a:solidFill>
            <a:schemeClr val="bg2"/>
          </a:solidFill>
          <a:ln w="12700">
            <a:solidFill>
              <a:schemeClr val="bg2"/>
            </a:solidFill>
            <a:prstDash val="solid"/>
          </a:ln>
        </p:spPr>
      </p:sp>
      <p:sp>
        <p:nvSpPr>
          <p:cNvPr id="10" name="icono-capa-1-fondo"/>
          <p:cNvSpPr/>
          <p:nvPr/>
        </p:nvSpPr>
        <p:spPr>
          <a:xfrm>
            <a:off x="5669280" y="1783080"/>
            <a:ext cx="731520" cy="731520"/>
          </a:xfrm>
          <a:prstGeom prst="ellipse">
            <a:avLst/>
          </a:prstGeom>
          <a:solidFill>
            <a:schemeClr val="bg2"/>
          </a:solidFill>
          <a:ln w="12700">
            <a:solidFill>
              <a:schemeClr val="bg2"/>
            </a:solidFill>
            <a:prstDash val="solid"/>
          </a:ln>
        </p:spPr>
      </p:sp>
      <p:pic>
        <p:nvPicPr>
          <p:cNvPr id="11" name="icono-capa-1" descr="icono-capa-1">    </p:cNvPr>
          <p:cNvPicPr>
            <a:picLocks noChangeAspect="1"/>
          </p:cNvPicPr>
          <p:nvPr/>
        </p:nvPicPr>
        <p:blipFill>
          <a:blip r:embed="rId2"/>
          <a:stretch>
            <a:fillRect/>
          </a:stretch>
        </p:blipFill>
        <p:spPr>
          <a:xfrm>
            <a:off x="5830214" y="1944014"/>
            <a:ext cx="409651" cy="409651"/>
          </a:xfrm>
          <a:prstGeom prst="rect">
            <a:avLst/>
          </a:prstGeom>
        </p:spPr>
      </p:pic>
      <p:sp>
        <p:nvSpPr>
          <p:cNvPr id="12" name="capa-titulo-1"/>
          <p:cNvSpPr txBox="1"/>
          <p:nvPr/>
        </p:nvSpPr>
        <p:spPr>
          <a:xfrm>
            <a:off x="4572000" y="2651760"/>
            <a:ext cx="2926080" cy="457200"/>
          </a:xfrm>
          <a:prstGeom prst="rect">
            <a:avLst/>
          </a:prstGeom>
          <a:noFill/>
          <a:ln/>
        </p:spPr>
        <p:txBody>
          <a:bodyPr wrap="square" lIns="0" tIns="0" rIns="0" bIns="0" rtlCol="0" anchor="t"/>
          <a:lstStyle/>
          <a:p>
            <a:pPr algn="ctr" indent="0" marL="0">
              <a:buNone/>
            </a:pPr>
            <a:r>
              <a:rPr lang="en-US" sz="1900" b="1" dirty="0">
                <a:solidFill>
                  <a:schemeClr val="tx1"/>
                </a:solidFill>
              </a:rPr>
              <a:t>Servidor en Render</a:t>
            </a:r>
            <a:endParaRPr lang="en-US" sz="1900" dirty="0"/>
          </a:p>
        </p:txBody>
      </p:sp>
      <p:sp>
        <p:nvSpPr>
          <p:cNvPr id="13" name="capa-texto-1"/>
          <p:cNvSpPr txBox="1"/>
          <p:nvPr/>
        </p:nvSpPr>
        <p:spPr>
          <a:xfrm>
            <a:off x="4572000" y="3154680"/>
            <a:ext cx="2926080" cy="1371600"/>
          </a:xfrm>
          <a:prstGeom prst="rect">
            <a:avLst/>
          </a:prstGeom>
          <a:noFill/>
          <a:ln/>
        </p:spPr>
        <p:txBody>
          <a:bodyPr wrap="square" lIns="0" tIns="0" rIns="0" bIns="0" rtlCol="0" anchor="t"/>
          <a:lstStyle/>
          <a:p>
            <a:pPr algn="ctr" indent="0" marL="0">
              <a:buNone/>
            </a:pPr>
            <a:r>
              <a:rPr lang="en-US" sz="1400" dirty="0">
                <a:solidFill>
                  <a:srgbClr val="4A4F63"/>
                </a:solidFill>
              </a:rPr>
              <a:t>Node.js + Express 5 + TypeScript</a:t>
            </a:r>
            <a:endParaRPr lang="en-US" sz="1400" dirty="0"/>
          </a:p>
          <a:p>
            <a:pPr algn="ctr" indent="0" marL="0">
              <a:buNone/>
            </a:pPr>
            <a:r>
              <a:rPr lang="en-US" sz="1400" dirty="0">
                <a:solidFill>
                  <a:srgbClr val="4A4F63"/>
                </a:solidFill>
              </a:rPr>
              <a:t>Reglas de negocio en services/</a:t>
            </a:r>
            <a:endParaRPr lang="en-US" sz="1400" dirty="0"/>
          </a:p>
          <a:p>
            <a:pPr algn="ctr" indent="0" marL="0">
              <a:buNone/>
            </a:pPr>
            <a:r>
              <a:rPr lang="en-US" sz="1400" dirty="0">
                <a:solidFill>
                  <a:srgbClr val="4A4F63"/>
                </a:solidFill>
              </a:rPr>
              <a:t>Socket.IO para el tiempo real</a:t>
            </a:r>
            <a:endParaRPr lang="en-US" sz="1400" dirty="0"/>
          </a:p>
        </p:txBody>
      </p:sp>
      <p:sp>
        <p:nvSpPr>
          <p:cNvPr id="14" name="flecha-1"/>
          <p:cNvSpPr/>
          <p:nvPr/>
        </p:nvSpPr>
        <p:spPr>
          <a:xfrm>
            <a:off x="7754112" y="2880360"/>
            <a:ext cx="411480" cy="411480"/>
          </a:xfrm>
          <a:prstGeom prst="rightArrow">
            <a:avLst/>
          </a:prstGeom>
          <a:solidFill>
            <a:schemeClr val="accent2"/>
          </a:solidFill>
          <a:ln w="12700">
            <a:solidFill>
              <a:schemeClr val="accent2"/>
            </a:solidFill>
            <a:prstDash val="solid"/>
          </a:ln>
        </p:spPr>
      </p:sp>
      <p:sp>
        <p:nvSpPr>
          <p:cNvPr id="15" name="capa-2"/>
          <p:cNvSpPr/>
          <p:nvPr/>
        </p:nvSpPr>
        <p:spPr>
          <a:xfrm>
            <a:off x="8229600" y="1554480"/>
            <a:ext cx="3291840" cy="3108960"/>
          </a:xfrm>
          <a:prstGeom prst="roundRect">
            <a:avLst>
              <a:gd name="adj" fmla="val 2353"/>
            </a:avLst>
          </a:prstGeom>
          <a:solidFill>
            <a:schemeClr val="bg2"/>
          </a:solidFill>
          <a:ln w="12700">
            <a:solidFill>
              <a:schemeClr val="bg2"/>
            </a:solidFill>
            <a:prstDash val="solid"/>
          </a:ln>
        </p:spPr>
      </p:sp>
      <p:sp>
        <p:nvSpPr>
          <p:cNvPr id="16" name="icono-capa-2-fondo"/>
          <p:cNvSpPr/>
          <p:nvPr/>
        </p:nvSpPr>
        <p:spPr>
          <a:xfrm>
            <a:off x="9509760" y="1783080"/>
            <a:ext cx="731520" cy="731520"/>
          </a:xfrm>
          <a:prstGeom prst="ellipse">
            <a:avLst/>
          </a:prstGeom>
          <a:solidFill>
            <a:schemeClr val="bg2"/>
          </a:solidFill>
          <a:ln w="12700">
            <a:solidFill>
              <a:schemeClr val="bg2"/>
            </a:solidFill>
            <a:prstDash val="solid"/>
          </a:ln>
        </p:spPr>
      </p:sp>
      <p:pic>
        <p:nvPicPr>
          <p:cNvPr id="17" name="icono-capa-2" descr="icono-capa-2">    </p:cNvPr>
          <p:cNvPicPr>
            <a:picLocks noChangeAspect="1"/>
          </p:cNvPicPr>
          <p:nvPr/>
        </p:nvPicPr>
        <p:blipFill>
          <a:blip r:embed="rId3"/>
          <a:stretch>
            <a:fillRect/>
          </a:stretch>
        </p:blipFill>
        <p:spPr>
          <a:xfrm>
            <a:off x="9670694" y="1944014"/>
            <a:ext cx="409651" cy="409651"/>
          </a:xfrm>
          <a:prstGeom prst="rect">
            <a:avLst/>
          </a:prstGeom>
        </p:spPr>
      </p:pic>
      <p:sp>
        <p:nvSpPr>
          <p:cNvPr id="18" name="capa-titulo-2"/>
          <p:cNvSpPr txBox="1"/>
          <p:nvPr/>
        </p:nvSpPr>
        <p:spPr>
          <a:xfrm>
            <a:off x="8412480" y="2651760"/>
            <a:ext cx="2926080" cy="457200"/>
          </a:xfrm>
          <a:prstGeom prst="rect">
            <a:avLst/>
          </a:prstGeom>
          <a:noFill/>
          <a:ln/>
        </p:spPr>
        <p:txBody>
          <a:bodyPr wrap="square" lIns="0" tIns="0" rIns="0" bIns="0" rtlCol="0" anchor="t"/>
          <a:lstStyle/>
          <a:p>
            <a:pPr algn="ctr" indent="0" marL="0">
              <a:buNone/>
            </a:pPr>
            <a:r>
              <a:rPr lang="en-US" sz="1900" b="1" dirty="0">
                <a:solidFill>
                  <a:schemeClr val="tx1"/>
                </a:solidFill>
              </a:rPr>
              <a:t>Base de datos en Neon</a:t>
            </a:r>
            <a:endParaRPr lang="en-US" sz="1900" dirty="0"/>
          </a:p>
        </p:txBody>
      </p:sp>
      <p:sp>
        <p:nvSpPr>
          <p:cNvPr id="19" name="capa-texto-2"/>
          <p:cNvSpPr txBox="1"/>
          <p:nvPr/>
        </p:nvSpPr>
        <p:spPr>
          <a:xfrm>
            <a:off x="8412480" y="3154680"/>
            <a:ext cx="2926080" cy="1371600"/>
          </a:xfrm>
          <a:prstGeom prst="rect">
            <a:avLst/>
          </a:prstGeom>
          <a:noFill/>
          <a:ln/>
        </p:spPr>
        <p:txBody>
          <a:bodyPr wrap="square" lIns="0" tIns="0" rIns="0" bIns="0" rtlCol="0" anchor="t"/>
          <a:lstStyle/>
          <a:p>
            <a:pPr algn="ctr" indent="0" marL="0">
              <a:buNone/>
            </a:pPr>
            <a:r>
              <a:rPr lang="en-US" sz="1400" dirty="0">
                <a:solidFill>
                  <a:srgbClr val="4A4F63"/>
                </a:solidFill>
              </a:rPr>
              <a:t>PostgreSQL con Sequelize</a:t>
            </a:r>
            <a:endParaRPr lang="en-US" sz="1400" dirty="0"/>
          </a:p>
          <a:p>
            <a:pPr algn="ctr" indent="0" marL="0">
              <a:buNone/>
            </a:pPr>
            <a:r>
              <a:rPr lang="en-US" sz="1400" dirty="0">
                <a:solidFill>
                  <a:srgbClr val="4A4F63"/>
                </a:solidFill>
              </a:rPr>
              <a:t>20 tablas, llaves foráneas y CHECK</a:t>
            </a:r>
            <a:endParaRPr lang="en-US" sz="1400" dirty="0"/>
          </a:p>
          <a:p>
            <a:pPr algn="ctr" indent="0" marL="0">
              <a:buNone/>
            </a:pPr>
            <a:r>
              <a:rPr lang="en-US" sz="1400" dirty="0">
                <a:solidFill>
                  <a:srgbClr val="4A4F63"/>
                </a:solidFill>
              </a:rPr>
              <a:t>Transacciones ACID</a:t>
            </a:r>
            <a:endParaRPr lang="en-US" sz="1400" dirty="0"/>
          </a:p>
        </p:txBody>
      </p:sp>
      <p:sp>
        <p:nvSpPr>
          <p:cNvPr id="20" name="nota-arquitectura"/>
          <p:cNvSpPr txBox="1"/>
          <p:nvPr/>
        </p:nvSpPr>
        <p:spPr>
          <a:xfrm>
            <a:off x="548640" y="5029200"/>
            <a:ext cx="11064240" cy="731520"/>
          </a:xfrm>
          <a:prstGeom prst="rect">
            <a:avLst/>
          </a:prstGeom>
          <a:noFill/>
          <a:ln/>
        </p:spPr>
        <p:txBody>
          <a:bodyPr wrap="square" lIns="0" tIns="0" rIns="0" bIns="0" rtlCol="0" anchor="t"/>
          <a:lstStyle/>
          <a:p>
            <a:pPr indent="0" marL="0">
              <a:buNone/>
            </a:pPr>
            <a:r>
              <a:rPr lang="en-US" sz="1500" dirty="0">
                <a:solidFill>
                  <a:schemeClr val="tx1"/>
                </a:solidFill>
              </a:rPr>
              <a:t>HTTPS con JSON para la API · WebSocket para posiciones, alertas y pánico · en producción un solo servicio entrega la web y la API</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Reglas de negocio que el sistema hace cumplir</a:t>
            </a:r>
            <a:endParaRPr lang="en-US" sz="3200" dirty="0"/>
          </a:p>
        </p:txBody>
      </p:sp>
      <p:sp>
        <p:nvSpPr>
          <p:cNvPr id="3" name="regla-0"/>
          <p:cNvSpPr/>
          <p:nvPr/>
        </p:nvSpPr>
        <p:spPr>
          <a:xfrm>
            <a:off x="548640" y="1463040"/>
            <a:ext cx="5440680" cy="2148840"/>
          </a:xfrm>
          <a:prstGeom prst="roundRect">
            <a:avLst>
              <a:gd name="adj" fmla="val 3404"/>
            </a:avLst>
          </a:prstGeom>
          <a:solidFill>
            <a:schemeClr val="bg2"/>
          </a:solidFill>
          <a:ln w="12700">
            <a:solidFill>
              <a:schemeClr val="bg2"/>
            </a:solidFill>
            <a:prstDash val="solid"/>
          </a:ln>
        </p:spPr>
      </p:sp>
      <p:sp>
        <p:nvSpPr>
          <p:cNvPr id="4" name="icono-regla-0-fondo"/>
          <p:cNvSpPr/>
          <p:nvPr/>
        </p:nvSpPr>
        <p:spPr>
          <a:xfrm>
            <a:off x="822960" y="1783080"/>
            <a:ext cx="731520" cy="731520"/>
          </a:xfrm>
          <a:prstGeom prst="ellipse">
            <a:avLst/>
          </a:prstGeom>
          <a:solidFill>
            <a:schemeClr val="bg2"/>
          </a:solidFill>
          <a:ln w="12700">
            <a:solidFill>
              <a:schemeClr val="bg2"/>
            </a:solidFill>
            <a:prstDash val="solid"/>
          </a:ln>
        </p:spPr>
      </p:sp>
      <p:pic>
        <p:nvPicPr>
          <p:cNvPr id="5" name="icono-regla-0" descr="icono-regla-0">    </p:cNvPr>
          <p:cNvPicPr>
            <a:picLocks noChangeAspect="1"/>
          </p:cNvPicPr>
          <p:nvPr/>
        </p:nvPicPr>
        <p:blipFill>
          <a:blip r:embed="rId1"/>
          <a:stretch>
            <a:fillRect/>
          </a:stretch>
        </p:blipFill>
        <p:spPr>
          <a:xfrm>
            <a:off x="983894" y="1944014"/>
            <a:ext cx="409651" cy="409651"/>
          </a:xfrm>
          <a:prstGeom prst="rect">
            <a:avLst/>
          </a:prstGeom>
        </p:spPr>
      </p:pic>
      <p:sp>
        <p:nvSpPr>
          <p:cNvPr id="6" name="regla-titulo-0"/>
          <p:cNvSpPr txBox="1"/>
          <p:nvPr/>
        </p:nvSpPr>
        <p:spPr>
          <a:xfrm>
            <a:off x="1783080" y="1783080"/>
            <a:ext cx="4023360" cy="457200"/>
          </a:xfrm>
          <a:prstGeom prst="rect">
            <a:avLst/>
          </a:prstGeom>
          <a:noFill/>
          <a:ln/>
        </p:spPr>
        <p:txBody>
          <a:bodyPr wrap="square" lIns="0" tIns="0" rIns="0" bIns="0" rtlCol="0" anchor="t"/>
          <a:lstStyle/>
          <a:p>
            <a:pPr indent="0" marL="0">
              <a:buNone/>
            </a:pPr>
            <a:r>
              <a:rPr lang="en-US" sz="1900" b="1" dirty="0">
                <a:solidFill>
                  <a:schemeClr val="tx1"/>
                </a:solidFill>
              </a:rPr>
              <a:t>Entre N y 2N buses por línea</a:t>
            </a:r>
            <a:endParaRPr lang="en-US" sz="1900" dirty="0"/>
          </a:p>
        </p:txBody>
      </p:sp>
      <p:sp>
        <p:nvSpPr>
          <p:cNvPr id="7" name="regla-texto-0"/>
          <p:cNvSpPr txBox="1"/>
          <p:nvPr/>
        </p:nvSpPr>
        <p:spPr>
          <a:xfrm>
            <a:off x="1783080" y="2286000"/>
            <a:ext cx="4023360" cy="1188720"/>
          </a:xfrm>
          <a:prstGeom prst="rect">
            <a:avLst/>
          </a:prstGeom>
          <a:noFill/>
          <a:ln/>
        </p:spPr>
        <p:txBody>
          <a:bodyPr wrap="square" lIns="0" tIns="0" rIns="0" bIns="0" rtlCol="0" anchor="t"/>
          <a:lstStyle/>
          <a:p>
            <a:pPr indent="0" marL="0">
              <a:buNone/>
            </a:pPr>
            <a:r>
              <a:rPr lang="en-US" sz="1400" dirty="0">
                <a:solidFill>
                  <a:srgbClr val="4A4F63"/>
                </a:solidFill>
              </a:rPr>
              <a:t>Se valida en una transacción que bloquea la línea: dos operadores a la vez no pueden romper el límite</a:t>
            </a:r>
            <a:endParaRPr lang="en-US" sz="1400" dirty="0"/>
          </a:p>
        </p:txBody>
      </p:sp>
      <p:sp>
        <p:nvSpPr>
          <p:cNvPr id="8" name="regla-1"/>
          <p:cNvSpPr/>
          <p:nvPr/>
        </p:nvSpPr>
        <p:spPr>
          <a:xfrm>
            <a:off x="6172200" y="1463040"/>
            <a:ext cx="5440680" cy="2148840"/>
          </a:xfrm>
          <a:prstGeom prst="roundRect">
            <a:avLst>
              <a:gd name="adj" fmla="val 3404"/>
            </a:avLst>
          </a:prstGeom>
          <a:solidFill>
            <a:schemeClr val="bg2"/>
          </a:solidFill>
          <a:ln w="12700">
            <a:solidFill>
              <a:schemeClr val="bg2"/>
            </a:solidFill>
            <a:prstDash val="solid"/>
          </a:ln>
        </p:spPr>
      </p:sp>
      <p:sp>
        <p:nvSpPr>
          <p:cNvPr id="9" name="icono-regla-1-fondo"/>
          <p:cNvSpPr/>
          <p:nvPr/>
        </p:nvSpPr>
        <p:spPr>
          <a:xfrm>
            <a:off x="6446520" y="1783080"/>
            <a:ext cx="731520" cy="731520"/>
          </a:xfrm>
          <a:prstGeom prst="ellipse">
            <a:avLst/>
          </a:prstGeom>
          <a:solidFill>
            <a:schemeClr val="bg2"/>
          </a:solidFill>
          <a:ln w="12700">
            <a:solidFill>
              <a:schemeClr val="bg2"/>
            </a:solidFill>
            <a:prstDash val="solid"/>
          </a:ln>
        </p:spPr>
      </p:sp>
      <p:pic>
        <p:nvPicPr>
          <p:cNvPr id="10" name="icono-regla-1" descr="icono-regla-1">    </p:cNvPr>
          <p:cNvPicPr>
            <a:picLocks noChangeAspect="1"/>
          </p:cNvPicPr>
          <p:nvPr/>
        </p:nvPicPr>
        <p:blipFill>
          <a:blip r:embed="rId2"/>
          <a:stretch>
            <a:fillRect/>
          </a:stretch>
        </p:blipFill>
        <p:spPr>
          <a:xfrm>
            <a:off x="6607454" y="1944014"/>
            <a:ext cx="409651" cy="409651"/>
          </a:xfrm>
          <a:prstGeom prst="rect">
            <a:avLst/>
          </a:prstGeom>
        </p:spPr>
      </p:pic>
      <p:sp>
        <p:nvSpPr>
          <p:cNvPr id="11" name="regla-titulo-1"/>
          <p:cNvSpPr txBox="1"/>
          <p:nvPr/>
        </p:nvSpPr>
        <p:spPr>
          <a:xfrm>
            <a:off x="7406640" y="1783080"/>
            <a:ext cx="4023360" cy="457200"/>
          </a:xfrm>
          <a:prstGeom prst="rect">
            <a:avLst/>
          </a:prstGeom>
          <a:noFill/>
          <a:ln/>
        </p:spPr>
        <p:txBody>
          <a:bodyPr wrap="square" lIns="0" tIns="0" rIns="0" bIns="0" rtlCol="0" anchor="t"/>
          <a:lstStyle/>
          <a:p>
            <a:pPr indent="0" marL="0">
              <a:buNone/>
            </a:pPr>
            <a:r>
              <a:rPr lang="en-US" sz="1900" b="1" dirty="0">
                <a:solidFill>
                  <a:schemeClr val="tx1"/>
                </a:solidFill>
              </a:rPr>
              <a:t>Alertas de ocupación</a:t>
            </a:r>
            <a:endParaRPr lang="en-US" sz="1900" dirty="0"/>
          </a:p>
        </p:txBody>
      </p:sp>
      <p:sp>
        <p:nvSpPr>
          <p:cNvPr id="12" name="regla-texto-1"/>
          <p:cNvSpPr txBox="1"/>
          <p:nvPr/>
        </p:nvSpPr>
        <p:spPr>
          <a:xfrm>
            <a:off x="7406640" y="2286000"/>
            <a:ext cx="4023360" cy="1188720"/>
          </a:xfrm>
          <a:prstGeom prst="rect">
            <a:avLst/>
          </a:prstGeom>
          <a:noFill/>
          <a:ln/>
        </p:spPr>
        <p:txBody>
          <a:bodyPr wrap="square" lIns="0" tIns="0" rIns="0" bIns="0" rtlCol="0" anchor="t"/>
          <a:lstStyle/>
          <a:p>
            <a:pPr indent="0" marL="0">
              <a:buNone/>
            </a:pPr>
            <a:r>
              <a:rPr lang="en-US" sz="1400" dirty="0">
                <a:solidFill>
                  <a:srgbClr val="4A4F63"/>
                </a:solidFill>
              </a:rPr>
              <a:t>Espera de 150 % o más de la capacidad: despachar otra unidad. Bus bajo 25 %: esperar 5 minutos</a:t>
            </a:r>
            <a:endParaRPr lang="en-US" sz="1400" dirty="0"/>
          </a:p>
        </p:txBody>
      </p:sp>
      <p:sp>
        <p:nvSpPr>
          <p:cNvPr id="13" name="regla-2"/>
          <p:cNvSpPr/>
          <p:nvPr/>
        </p:nvSpPr>
        <p:spPr>
          <a:xfrm>
            <a:off x="548640" y="3840480"/>
            <a:ext cx="5440680" cy="2148840"/>
          </a:xfrm>
          <a:prstGeom prst="roundRect">
            <a:avLst>
              <a:gd name="adj" fmla="val 3404"/>
            </a:avLst>
          </a:prstGeom>
          <a:solidFill>
            <a:schemeClr val="bg2"/>
          </a:solidFill>
          <a:ln w="12700">
            <a:solidFill>
              <a:schemeClr val="bg2"/>
            </a:solidFill>
            <a:prstDash val="solid"/>
          </a:ln>
        </p:spPr>
      </p:sp>
      <p:sp>
        <p:nvSpPr>
          <p:cNvPr id="14" name="icono-regla-2-fondo"/>
          <p:cNvSpPr/>
          <p:nvPr/>
        </p:nvSpPr>
        <p:spPr>
          <a:xfrm>
            <a:off x="822960" y="4160520"/>
            <a:ext cx="731520" cy="731520"/>
          </a:xfrm>
          <a:prstGeom prst="ellipse">
            <a:avLst/>
          </a:prstGeom>
          <a:solidFill>
            <a:schemeClr val="bg2"/>
          </a:solidFill>
          <a:ln w="12700">
            <a:solidFill>
              <a:schemeClr val="bg2"/>
            </a:solidFill>
            <a:prstDash val="solid"/>
          </a:ln>
        </p:spPr>
      </p:sp>
      <p:pic>
        <p:nvPicPr>
          <p:cNvPr id="15" name="icono-regla-2" descr="icono-regla-2">    </p:cNvPr>
          <p:cNvPicPr>
            <a:picLocks noChangeAspect="1"/>
          </p:cNvPicPr>
          <p:nvPr/>
        </p:nvPicPr>
        <p:blipFill>
          <a:blip r:embed="rId3"/>
          <a:stretch>
            <a:fillRect/>
          </a:stretch>
        </p:blipFill>
        <p:spPr>
          <a:xfrm>
            <a:off x="983894" y="4321454"/>
            <a:ext cx="409651" cy="409651"/>
          </a:xfrm>
          <a:prstGeom prst="rect">
            <a:avLst/>
          </a:prstGeom>
        </p:spPr>
      </p:pic>
      <p:sp>
        <p:nvSpPr>
          <p:cNvPr id="16" name="regla-titulo-2"/>
          <p:cNvSpPr txBox="1"/>
          <p:nvPr/>
        </p:nvSpPr>
        <p:spPr>
          <a:xfrm>
            <a:off x="1783080" y="4160520"/>
            <a:ext cx="4023360" cy="457200"/>
          </a:xfrm>
          <a:prstGeom prst="rect">
            <a:avLst/>
          </a:prstGeom>
          <a:noFill/>
          <a:ln/>
        </p:spPr>
        <p:txBody>
          <a:bodyPr wrap="square" lIns="0" tIns="0" rIns="0" bIns="0" rtlCol="0" anchor="t"/>
          <a:lstStyle/>
          <a:p>
            <a:pPr indent="0" marL="0">
              <a:buNone/>
            </a:pPr>
            <a:r>
              <a:rPr lang="en-US" sz="1900" b="1" dirty="0">
                <a:solidFill>
                  <a:schemeClr val="tx1"/>
                </a:solidFill>
              </a:rPr>
              <a:t>Cobro seguro</a:t>
            </a:r>
            <a:endParaRPr lang="en-US" sz="1900" dirty="0"/>
          </a:p>
        </p:txBody>
      </p:sp>
      <p:sp>
        <p:nvSpPr>
          <p:cNvPr id="17" name="regla-texto-2"/>
          <p:cNvSpPr txBox="1"/>
          <p:nvPr/>
        </p:nvSpPr>
        <p:spPr>
          <a:xfrm>
            <a:off x="1783080" y="4663440"/>
            <a:ext cx="4023360" cy="1188720"/>
          </a:xfrm>
          <a:prstGeom prst="rect">
            <a:avLst/>
          </a:prstGeom>
          <a:noFill/>
          <a:ln/>
        </p:spPr>
        <p:txBody>
          <a:bodyPr wrap="square" lIns="0" tIns="0" rIns="0" bIns="0" rtlCol="0" anchor="t"/>
          <a:lstStyle/>
          <a:p>
            <a:pPr indent="0" marL="0">
              <a:buNone/>
            </a:pPr>
            <a:r>
              <a:rPr lang="en-US" sz="1400" dirty="0">
                <a:solidFill>
                  <a:srgbClr val="4A4F63"/>
                </a:solidFill>
              </a:rPr>
              <a:t>Descontar saldo y registrar el pasaje ocurren juntos o no ocurren; una referencia única evita cobrar dos veces</a:t>
            </a:r>
            <a:endParaRPr lang="en-US" sz="1400" dirty="0"/>
          </a:p>
        </p:txBody>
      </p:sp>
      <p:sp>
        <p:nvSpPr>
          <p:cNvPr id="18" name="regla-3"/>
          <p:cNvSpPr/>
          <p:nvPr/>
        </p:nvSpPr>
        <p:spPr>
          <a:xfrm>
            <a:off x="6172200" y="3840480"/>
            <a:ext cx="5440680" cy="2148840"/>
          </a:xfrm>
          <a:prstGeom prst="roundRect">
            <a:avLst>
              <a:gd name="adj" fmla="val 3404"/>
            </a:avLst>
          </a:prstGeom>
          <a:solidFill>
            <a:schemeClr val="bg2"/>
          </a:solidFill>
          <a:ln w="12700">
            <a:solidFill>
              <a:schemeClr val="bg2"/>
            </a:solidFill>
            <a:prstDash val="solid"/>
          </a:ln>
        </p:spPr>
      </p:sp>
      <p:sp>
        <p:nvSpPr>
          <p:cNvPr id="19" name="icono-regla-3-fondo"/>
          <p:cNvSpPr/>
          <p:nvPr/>
        </p:nvSpPr>
        <p:spPr>
          <a:xfrm>
            <a:off x="6446520" y="4160520"/>
            <a:ext cx="731520" cy="731520"/>
          </a:xfrm>
          <a:prstGeom prst="ellipse">
            <a:avLst/>
          </a:prstGeom>
          <a:solidFill>
            <a:schemeClr val="bg2"/>
          </a:solidFill>
          <a:ln w="12700">
            <a:solidFill>
              <a:schemeClr val="bg2"/>
            </a:solidFill>
            <a:prstDash val="solid"/>
          </a:ln>
        </p:spPr>
      </p:sp>
      <p:pic>
        <p:nvPicPr>
          <p:cNvPr id="20" name="icono-regla-3" descr="icono-regla-3">    </p:cNvPr>
          <p:cNvPicPr>
            <a:picLocks noChangeAspect="1"/>
          </p:cNvPicPr>
          <p:nvPr/>
        </p:nvPicPr>
        <p:blipFill>
          <a:blip r:embed="rId4"/>
          <a:stretch>
            <a:fillRect/>
          </a:stretch>
        </p:blipFill>
        <p:spPr>
          <a:xfrm>
            <a:off x="6607454" y="4321454"/>
            <a:ext cx="409651" cy="409651"/>
          </a:xfrm>
          <a:prstGeom prst="rect">
            <a:avLst/>
          </a:prstGeom>
        </p:spPr>
      </p:pic>
      <p:sp>
        <p:nvSpPr>
          <p:cNvPr id="21" name="regla-titulo-3"/>
          <p:cNvSpPr txBox="1"/>
          <p:nvPr/>
        </p:nvSpPr>
        <p:spPr>
          <a:xfrm>
            <a:off x="7406640" y="4160520"/>
            <a:ext cx="4023360" cy="457200"/>
          </a:xfrm>
          <a:prstGeom prst="rect">
            <a:avLst/>
          </a:prstGeom>
          <a:noFill/>
          <a:ln/>
        </p:spPr>
        <p:txBody>
          <a:bodyPr wrap="square" lIns="0" tIns="0" rIns="0" bIns="0" rtlCol="0" anchor="t"/>
          <a:lstStyle/>
          <a:p>
            <a:pPr indent="0" marL="0">
              <a:buNone/>
            </a:pPr>
            <a:r>
              <a:rPr lang="en-US" sz="1900" b="1" dirty="0">
                <a:solidFill>
                  <a:schemeClr val="tx1"/>
                </a:solidFill>
              </a:rPr>
              <a:t>Recorridos y distancias</a:t>
            </a:r>
            <a:endParaRPr lang="en-US" sz="1900" dirty="0"/>
          </a:p>
        </p:txBody>
      </p:sp>
      <p:sp>
        <p:nvSpPr>
          <p:cNvPr id="22" name="regla-texto-3"/>
          <p:cNvSpPr txBox="1"/>
          <p:nvPr/>
        </p:nvSpPr>
        <p:spPr>
          <a:xfrm>
            <a:off x="7406640" y="4663440"/>
            <a:ext cx="4023360" cy="1188720"/>
          </a:xfrm>
          <a:prstGeom prst="rect">
            <a:avLst/>
          </a:prstGeom>
          <a:noFill/>
          <a:ln/>
        </p:spPr>
        <p:txBody>
          <a:bodyPr wrap="square" lIns="0" tIns="0" rIns="0" bIns="0" rtlCol="0" anchor="t"/>
          <a:lstStyle/>
          <a:p>
            <a:pPr indent="0" marL="0">
              <a:buNone/>
            </a:pPr>
            <a:r>
              <a:rPr lang="en-US" sz="1400" dirty="0">
                <a:solidFill>
                  <a:srgbClr val="4A4F63"/>
                </a:solidFill>
              </a:rPr>
              <a:t>La distancia de la línea es la suma de sus tramos; un bus nunca queda sin parqueo; cada cambio queda en el historial</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Seguridad desde el diseño</a:t>
            </a:r>
            <a:endParaRPr lang="en-US" sz="3200" dirty="0"/>
          </a:p>
        </p:txBody>
      </p:sp>
      <p:sp>
        <p:nvSpPr>
          <p:cNvPr id="3" name="icono-seg-0-fondo"/>
          <p:cNvSpPr/>
          <p:nvPr/>
        </p:nvSpPr>
        <p:spPr>
          <a:xfrm>
            <a:off x="548640" y="1417320"/>
            <a:ext cx="777240" cy="777240"/>
          </a:xfrm>
          <a:prstGeom prst="ellipse">
            <a:avLst/>
          </a:prstGeom>
          <a:solidFill>
            <a:schemeClr val="bg2"/>
          </a:solidFill>
          <a:ln w="12700">
            <a:solidFill>
              <a:schemeClr val="bg2"/>
            </a:solidFill>
            <a:prstDash val="solid"/>
          </a:ln>
        </p:spPr>
      </p:sp>
      <p:pic>
        <p:nvPicPr>
          <p:cNvPr id="4" name="icono-seg-0" descr="icono-seg-0">    </p:cNvPr>
          <p:cNvPicPr>
            <a:picLocks noChangeAspect="1"/>
          </p:cNvPicPr>
          <p:nvPr/>
        </p:nvPicPr>
        <p:blipFill>
          <a:blip r:embed="rId1"/>
          <a:stretch>
            <a:fillRect/>
          </a:stretch>
        </p:blipFill>
        <p:spPr>
          <a:xfrm>
            <a:off x="719633" y="1588313"/>
            <a:ext cx="435254" cy="435254"/>
          </a:xfrm>
          <a:prstGeom prst="rect">
            <a:avLst/>
          </a:prstGeom>
        </p:spPr>
      </p:pic>
      <p:sp>
        <p:nvSpPr>
          <p:cNvPr id="5" name="seg-titulo-0"/>
          <p:cNvSpPr txBox="1"/>
          <p:nvPr/>
        </p:nvSpPr>
        <p:spPr>
          <a:xfrm>
            <a:off x="1600200" y="1435608"/>
            <a:ext cx="5120640" cy="411480"/>
          </a:xfrm>
          <a:prstGeom prst="rect">
            <a:avLst/>
          </a:prstGeom>
          <a:noFill/>
          <a:ln/>
        </p:spPr>
        <p:txBody>
          <a:bodyPr wrap="square" lIns="0" tIns="0" rIns="0" bIns="0" rtlCol="0" anchor="t"/>
          <a:lstStyle/>
          <a:p>
            <a:pPr indent="0" marL="0">
              <a:buNone/>
            </a:pPr>
            <a:r>
              <a:rPr lang="en-US" sz="1900" b="1" dirty="0">
                <a:solidFill>
                  <a:schemeClr val="tx1"/>
                </a:solidFill>
              </a:rPr>
              <a:t>Contraseñas con bcrypt</a:t>
            </a:r>
            <a:endParaRPr lang="en-US" sz="1900" dirty="0"/>
          </a:p>
        </p:txBody>
      </p:sp>
      <p:sp>
        <p:nvSpPr>
          <p:cNvPr id="6" name="seg-texto-0"/>
          <p:cNvSpPr txBox="1"/>
          <p:nvPr/>
        </p:nvSpPr>
        <p:spPr>
          <a:xfrm>
            <a:off x="1600200" y="1847088"/>
            <a:ext cx="5120640" cy="685800"/>
          </a:xfrm>
          <a:prstGeom prst="rect">
            <a:avLst/>
          </a:prstGeom>
          <a:noFill/>
          <a:ln/>
        </p:spPr>
        <p:txBody>
          <a:bodyPr wrap="square" lIns="0" tIns="0" rIns="0" bIns="0" rtlCol="0" anchor="t"/>
          <a:lstStyle/>
          <a:p>
            <a:pPr indent="0" marL="0">
              <a:buNone/>
            </a:pPr>
            <a:r>
              <a:rPr lang="en-US" sz="1400" dirty="0">
                <a:solidFill>
                  <a:srgbClr val="4A4F63"/>
                </a:solidFill>
              </a:rPr>
              <a:t>Hash con sal; nunca se guardan en texto plano</a:t>
            </a:r>
            <a:endParaRPr lang="en-US" sz="1400" dirty="0"/>
          </a:p>
        </p:txBody>
      </p:sp>
      <p:sp>
        <p:nvSpPr>
          <p:cNvPr id="7" name="icono-seg-1-fondo"/>
          <p:cNvSpPr/>
          <p:nvPr/>
        </p:nvSpPr>
        <p:spPr>
          <a:xfrm>
            <a:off x="548640" y="2606040"/>
            <a:ext cx="777240" cy="777240"/>
          </a:xfrm>
          <a:prstGeom prst="ellipse">
            <a:avLst/>
          </a:prstGeom>
          <a:solidFill>
            <a:schemeClr val="bg2"/>
          </a:solidFill>
          <a:ln w="12700">
            <a:solidFill>
              <a:schemeClr val="bg2"/>
            </a:solidFill>
            <a:prstDash val="solid"/>
          </a:ln>
        </p:spPr>
      </p:sp>
      <p:pic>
        <p:nvPicPr>
          <p:cNvPr id="8" name="icono-seg-1" descr="icono-seg-1">    </p:cNvPr>
          <p:cNvPicPr>
            <a:picLocks noChangeAspect="1"/>
          </p:cNvPicPr>
          <p:nvPr/>
        </p:nvPicPr>
        <p:blipFill>
          <a:blip r:embed="rId2"/>
          <a:stretch>
            <a:fillRect/>
          </a:stretch>
        </p:blipFill>
        <p:spPr>
          <a:xfrm>
            <a:off x="719633" y="2777033"/>
            <a:ext cx="435254" cy="435254"/>
          </a:xfrm>
          <a:prstGeom prst="rect">
            <a:avLst/>
          </a:prstGeom>
        </p:spPr>
      </p:pic>
      <p:sp>
        <p:nvSpPr>
          <p:cNvPr id="9" name="seg-titulo-1"/>
          <p:cNvSpPr txBox="1"/>
          <p:nvPr/>
        </p:nvSpPr>
        <p:spPr>
          <a:xfrm>
            <a:off x="1600200" y="2624328"/>
            <a:ext cx="5120640" cy="411480"/>
          </a:xfrm>
          <a:prstGeom prst="rect">
            <a:avLst/>
          </a:prstGeom>
          <a:noFill/>
          <a:ln/>
        </p:spPr>
        <p:txBody>
          <a:bodyPr wrap="square" lIns="0" tIns="0" rIns="0" bIns="0" rtlCol="0" anchor="t"/>
          <a:lstStyle/>
          <a:p>
            <a:pPr indent="0" marL="0">
              <a:buNone/>
            </a:pPr>
            <a:r>
              <a:rPr lang="en-US" sz="1900" b="1" dirty="0">
                <a:solidFill>
                  <a:schemeClr val="tx1"/>
                </a:solidFill>
              </a:rPr>
              <a:t>JWT y roles</a:t>
            </a:r>
            <a:endParaRPr lang="en-US" sz="1900" dirty="0"/>
          </a:p>
        </p:txBody>
      </p:sp>
      <p:sp>
        <p:nvSpPr>
          <p:cNvPr id="10" name="seg-texto-1"/>
          <p:cNvSpPr txBox="1"/>
          <p:nvPr/>
        </p:nvSpPr>
        <p:spPr>
          <a:xfrm>
            <a:off x="1600200" y="3035808"/>
            <a:ext cx="5120640" cy="685800"/>
          </a:xfrm>
          <a:prstGeom prst="rect">
            <a:avLst/>
          </a:prstGeom>
          <a:noFill/>
          <a:ln/>
        </p:spPr>
        <p:txBody>
          <a:bodyPr wrap="square" lIns="0" tIns="0" rIns="0" bIns="0" rtlCol="0" anchor="t"/>
          <a:lstStyle/>
          <a:p>
            <a:pPr indent="0" marL="0">
              <a:buNone/>
            </a:pPr>
            <a:r>
              <a:rPr lang="en-US" sz="1400" dirty="0">
                <a:solidFill>
                  <a:srgbClr val="4A4F63"/>
                </a:solidFill>
              </a:rPr>
              <a:t>Cada ruta exige un rol; el operador solo opera su estación y la municipalidad solo ve lo suyo</a:t>
            </a:r>
            <a:endParaRPr lang="en-US" sz="1400" dirty="0"/>
          </a:p>
        </p:txBody>
      </p:sp>
      <p:sp>
        <p:nvSpPr>
          <p:cNvPr id="11" name="icono-seg-2-fondo"/>
          <p:cNvSpPr/>
          <p:nvPr/>
        </p:nvSpPr>
        <p:spPr>
          <a:xfrm>
            <a:off x="548640" y="3794760"/>
            <a:ext cx="777240" cy="777240"/>
          </a:xfrm>
          <a:prstGeom prst="ellipse">
            <a:avLst/>
          </a:prstGeom>
          <a:solidFill>
            <a:schemeClr val="bg2"/>
          </a:solidFill>
          <a:ln w="12700">
            <a:solidFill>
              <a:schemeClr val="bg2"/>
            </a:solidFill>
            <a:prstDash val="solid"/>
          </a:ln>
        </p:spPr>
      </p:sp>
      <p:pic>
        <p:nvPicPr>
          <p:cNvPr id="12" name="icono-seg-2" descr="icono-seg-2">    </p:cNvPr>
          <p:cNvPicPr>
            <a:picLocks noChangeAspect="1"/>
          </p:cNvPicPr>
          <p:nvPr/>
        </p:nvPicPr>
        <p:blipFill>
          <a:blip r:embed="rId3"/>
          <a:stretch>
            <a:fillRect/>
          </a:stretch>
        </p:blipFill>
        <p:spPr>
          <a:xfrm>
            <a:off x="719633" y="3965753"/>
            <a:ext cx="435254" cy="435254"/>
          </a:xfrm>
          <a:prstGeom prst="rect">
            <a:avLst/>
          </a:prstGeom>
        </p:spPr>
      </p:pic>
      <p:sp>
        <p:nvSpPr>
          <p:cNvPr id="13" name="seg-titulo-2"/>
          <p:cNvSpPr txBox="1"/>
          <p:nvPr/>
        </p:nvSpPr>
        <p:spPr>
          <a:xfrm>
            <a:off x="1600200" y="3813048"/>
            <a:ext cx="5120640" cy="411480"/>
          </a:xfrm>
          <a:prstGeom prst="rect">
            <a:avLst/>
          </a:prstGeom>
          <a:noFill/>
          <a:ln/>
        </p:spPr>
        <p:txBody>
          <a:bodyPr wrap="square" lIns="0" tIns="0" rIns="0" bIns="0" rtlCol="0" anchor="t"/>
          <a:lstStyle/>
          <a:p>
            <a:pPr indent="0" marL="0">
              <a:buNone/>
            </a:pPr>
            <a:r>
              <a:rPr lang="en-US" sz="1900" b="1" dirty="0">
                <a:solidFill>
                  <a:schemeClr val="tx1"/>
                </a:solidFill>
              </a:rPr>
              <a:t>Datos personales cifrados</a:t>
            </a:r>
            <a:endParaRPr lang="en-US" sz="1900" dirty="0"/>
          </a:p>
        </p:txBody>
      </p:sp>
      <p:sp>
        <p:nvSpPr>
          <p:cNvPr id="14" name="seg-texto-2"/>
          <p:cNvSpPr txBox="1"/>
          <p:nvPr/>
        </p:nvSpPr>
        <p:spPr>
          <a:xfrm>
            <a:off x="1600200" y="4224528"/>
            <a:ext cx="5120640" cy="685800"/>
          </a:xfrm>
          <a:prstGeom prst="rect">
            <a:avLst/>
          </a:prstGeom>
          <a:noFill/>
          <a:ln/>
        </p:spPr>
        <p:txBody>
          <a:bodyPr wrap="square" lIns="0" tIns="0" rIns="0" bIns="0" rtlCol="0" anchor="t"/>
          <a:lstStyle/>
          <a:p>
            <a:pPr indent="0" marL="0">
              <a:buNone/>
            </a:pPr>
            <a:r>
              <a:rPr lang="en-US" sz="1400" dirty="0">
                <a:solidFill>
                  <a:srgbClr val="4A4F63"/>
                </a:solidFill>
              </a:rPr>
              <a:t>DPI y NIT con AES-256-GCM; en pantalla solo los últimos 4 dígitos</a:t>
            </a:r>
            <a:endParaRPr lang="en-US" sz="1400" dirty="0"/>
          </a:p>
        </p:txBody>
      </p:sp>
      <p:sp>
        <p:nvSpPr>
          <p:cNvPr id="15" name="icono-seg-3-fondo"/>
          <p:cNvSpPr/>
          <p:nvPr/>
        </p:nvSpPr>
        <p:spPr>
          <a:xfrm>
            <a:off x="548640" y="4983480"/>
            <a:ext cx="777240" cy="777240"/>
          </a:xfrm>
          <a:prstGeom prst="ellipse">
            <a:avLst/>
          </a:prstGeom>
          <a:solidFill>
            <a:schemeClr val="bg2"/>
          </a:solidFill>
          <a:ln w="12700">
            <a:solidFill>
              <a:schemeClr val="bg2"/>
            </a:solidFill>
            <a:prstDash val="solid"/>
          </a:ln>
        </p:spPr>
      </p:sp>
      <p:pic>
        <p:nvPicPr>
          <p:cNvPr id="16" name="icono-seg-3" descr="icono-seg-3">    </p:cNvPr>
          <p:cNvPicPr>
            <a:picLocks noChangeAspect="1"/>
          </p:cNvPicPr>
          <p:nvPr/>
        </p:nvPicPr>
        <p:blipFill>
          <a:blip r:embed="rId4"/>
          <a:stretch>
            <a:fillRect/>
          </a:stretch>
        </p:blipFill>
        <p:spPr>
          <a:xfrm>
            <a:off x="719633" y="5154473"/>
            <a:ext cx="435254" cy="435254"/>
          </a:xfrm>
          <a:prstGeom prst="rect">
            <a:avLst/>
          </a:prstGeom>
        </p:spPr>
      </p:pic>
      <p:sp>
        <p:nvSpPr>
          <p:cNvPr id="17" name="seg-titulo-3"/>
          <p:cNvSpPr txBox="1"/>
          <p:nvPr/>
        </p:nvSpPr>
        <p:spPr>
          <a:xfrm>
            <a:off x="1600200" y="5001768"/>
            <a:ext cx="5120640" cy="411480"/>
          </a:xfrm>
          <a:prstGeom prst="rect">
            <a:avLst/>
          </a:prstGeom>
          <a:noFill/>
          <a:ln/>
        </p:spPr>
        <p:txBody>
          <a:bodyPr wrap="square" lIns="0" tIns="0" rIns="0" bIns="0" rtlCol="0" anchor="t"/>
          <a:lstStyle/>
          <a:p>
            <a:pPr indent="0" marL="0">
              <a:buNone/>
            </a:pPr>
            <a:r>
              <a:rPr lang="en-US" sz="1900" b="1" dirty="0">
                <a:solidFill>
                  <a:schemeClr val="tx1"/>
                </a:solidFill>
              </a:rPr>
              <a:t>Validación y cabeceras</a:t>
            </a:r>
            <a:endParaRPr lang="en-US" sz="1900" dirty="0"/>
          </a:p>
        </p:txBody>
      </p:sp>
      <p:sp>
        <p:nvSpPr>
          <p:cNvPr id="18" name="seg-texto-3"/>
          <p:cNvSpPr txBox="1"/>
          <p:nvPr/>
        </p:nvSpPr>
        <p:spPr>
          <a:xfrm>
            <a:off x="1600200" y="5413248"/>
            <a:ext cx="5120640" cy="685800"/>
          </a:xfrm>
          <a:prstGeom prst="rect">
            <a:avLst/>
          </a:prstGeom>
          <a:noFill/>
          <a:ln/>
        </p:spPr>
        <p:txBody>
          <a:bodyPr wrap="square" lIns="0" tIns="0" rIns="0" bIns="0" rtlCol="0" anchor="t"/>
          <a:lstStyle/>
          <a:p>
            <a:pPr indent="0" marL="0">
              <a:buNone/>
            </a:pPr>
            <a:r>
              <a:rPr lang="en-US" sz="1400" dirty="0">
                <a:solidFill>
                  <a:srgbClr val="4A4F63"/>
                </a:solidFill>
              </a:rPr>
              <a:t>Zod en cada entrada, Helmet, límite de intentos por IP y consultas parametrizadas</a:t>
            </a:r>
            <a:endParaRPr lang="en-US" sz="1400" dirty="0"/>
          </a:p>
        </p:txBody>
      </p:sp>
      <p:pic>
        <p:nvPicPr>
          <p:cNvPr id="19" name="captura-cobros" descr="Pantalla de cobros y tarjetas">    </p:cNvPr>
          <p:cNvPicPr>
            <a:picLocks noChangeAspect="1"/>
          </p:cNvPicPr>
          <p:nvPr/>
        </p:nvPicPr>
        <p:blipFill>
          <a:blip r:embed="rId5"/>
          <a:stretch>
            <a:fillRect/>
          </a:stretch>
        </p:blipFill>
        <p:spPr>
          <a:xfrm>
            <a:off x="7086600" y="1417320"/>
            <a:ext cx="4526280" cy="2825496"/>
          </a:xfrm>
          <a:prstGeom prst="rect">
            <a:avLst/>
          </a:prstGeom>
        </p:spPr>
      </p:pic>
      <p:sp>
        <p:nvSpPr>
          <p:cNvPr id="20" name="pie-cobros"/>
          <p:cNvSpPr txBox="1"/>
          <p:nvPr/>
        </p:nvSpPr>
        <p:spPr>
          <a:xfrm>
            <a:off x="7086600" y="4343400"/>
            <a:ext cx="4526280" cy="640080"/>
          </a:xfrm>
          <a:prstGeom prst="rect">
            <a:avLst/>
          </a:prstGeom>
          <a:noFill/>
          <a:ln/>
        </p:spPr>
        <p:txBody>
          <a:bodyPr wrap="square" lIns="0" tIns="0" rIns="0" bIns="0" rtlCol="0" anchor="t"/>
          <a:lstStyle/>
          <a:p>
            <a:pPr indent="0" marL="0">
              <a:buNone/>
            </a:pPr>
            <a:r>
              <a:rPr lang="en-US" sz="1200" dirty="0">
                <a:solidFill>
                  <a:srgbClr val="6B7085"/>
                </a:solidFill>
              </a:rPr>
              <a:t>Cobros y tarjetas: el saldo y la transacción se guardan juntos o no se guardan</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El sistema en funcionamiento</a:t>
            </a:r>
            <a:endParaRPr lang="en-US" sz="3200" dirty="0"/>
          </a:p>
        </p:txBody>
      </p:sp>
      <p:pic>
        <p:nvPicPr>
          <p:cNvPr id="3" name="captura-03_tablero" descr="Tablero de control">    </p:cNvPr>
          <p:cNvPicPr>
            <a:picLocks noChangeAspect="1"/>
          </p:cNvPicPr>
          <p:nvPr/>
        </p:nvPicPr>
        <p:blipFill>
          <a:blip r:embed="rId1"/>
          <a:stretch>
            <a:fillRect/>
          </a:stretch>
        </p:blipFill>
        <p:spPr>
          <a:xfrm>
            <a:off x="548640" y="1325880"/>
            <a:ext cx="3429000" cy="2139696"/>
          </a:xfrm>
          <a:prstGeom prst="rect">
            <a:avLst/>
          </a:prstGeom>
        </p:spPr>
      </p:pic>
      <p:sp>
        <p:nvSpPr>
          <p:cNvPr id="4" name="pie-03_tablero"/>
          <p:cNvSpPr txBox="1"/>
          <p:nvPr/>
        </p:nvSpPr>
        <p:spPr>
          <a:xfrm>
            <a:off x="4160520" y="1417320"/>
            <a:ext cx="1828800" cy="1371600"/>
          </a:xfrm>
          <a:prstGeom prst="rect">
            <a:avLst/>
          </a:prstGeom>
          <a:noFill/>
          <a:ln/>
        </p:spPr>
        <p:txBody>
          <a:bodyPr wrap="square" lIns="0" tIns="0" rIns="0" bIns="0" rtlCol="0" anchor="t"/>
          <a:lstStyle/>
          <a:p>
            <a:pPr indent="0" marL="0">
              <a:buNone/>
            </a:pPr>
            <a:r>
              <a:rPr lang="en-US" sz="1500" b="1" dirty="0">
                <a:solidFill>
                  <a:schemeClr val="tx1"/>
                </a:solidFill>
              </a:rPr>
              <a:t>Tablero de control</a:t>
            </a:r>
            <a:endParaRPr lang="en-US" sz="1500" dirty="0"/>
          </a:p>
        </p:txBody>
      </p:sp>
      <p:pic>
        <p:nvPicPr>
          <p:cNvPr id="5" name="captura-05_alertas" descr="Alertas de ocupación en tiempo real">    </p:cNvPr>
          <p:cNvPicPr>
            <a:picLocks noChangeAspect="1"/>
          </p:cNvPicPr>
          <p:nvPr/>
        </p:nvPicPr>
        <p:blipFill>
          <a:blip r:embed="rId2"/>
          <a:stretch>
            <a:fillRect/>
          </a:stretch>
        </p:blipFill>
        <p:spPr>
          <a:xfrm>
            <a:off x="6172200" y="1325880"/>
            <a:ext cx="3429000" cy="2139696"/>
          </a:xfrm>
          <a:prstGeom prst="rect">
            <a:avLst/>
          </a:prstGeom>
        </p:spPr>
      </p:pic>
      <p:sp>
        <p:nvSpPr>
          <p:cNvPr id="6" name="pie-05_alertas"/>
          <p:cNvSpPr txBox="1"/>
          <p:nvPr/>
        </p:nvSpPr>
        <p:spPr>
          <a:xfrm>
            <a:off x="9784080" y="1417320"/>
            <a:ext cx="1828800" cy="1371600"/>
          </a:xfrm>
          <a:prstGeom prst="rect">
            <a:avLst/>
          </a:prstGeom>
          <a:noFill/>
          <a:ln/>
        </p:spPr>
        <p:txBody>
          <a:bodyPr wrap="square" lIns="0" tIns="0" rIns="0" bIns="0" rtlCol="0" anchor="t"/>
          <a:lstStyle/>
          <a:p>
            <a:pPr indent="0" marL="0">
              <a:buNone/>
            </a:pPr>
            <a:r>
              <a:rPr lang="en-US" sz="1500" b="1" dirty="0">
                <a:solidFill>
                  <a:schemeClr val="tx1"/>
                </a:solidFill>
              </a:rPr>
              <a:t>Alertas de ocupación en tiempo real</a:t>
            </a:r>
            <a:endParaRPr lang="en-US" sz="1500" dirty="0"/>
          </a:p>
        </p:txBody>
      </p:sp>
      <p:pic>
        <p:nvPicPr>
          <p:cNvPr id="7" name="captura-07_linea_detalle" descr="Recorrido de la Línea 4 y sus buses">    </p:cNvPr>
          <p:cNvPicPr>
            <a:picLocks noChangeAspect="1"/>
          </p:cNvPicPr>
          <p:nvPr/>
        </p:nvPicPr>
        <p:blipFill>
          <a:blip r:embed="rId3"/>
          <a:stretch>
            <a:fillRect/>
          </a:stretch>
        </p:blipFill>
        <p:spPr>
          <a:xfrm>
            <a:off x="548640" y="3840480"/>
            <a:ext cx="3429000" cy="2139696"/>
          </a:xfrm>
          <a:prstGeom prst="rect">
            <a:avLst/>
          </a:prstGeom>
        </p:spPr>
      </p:pic>
      <p:sp>
        <p:nvSpPr>
          <p:cNvPr id="8" name="pie-07_linea_detalle"/>
          <p:cNvSpPr txBox="1"/>
          <p:nvPr/>
        </p:nvSpPr>
        <p:spPr>
          <a:xfrm>
            <a:off x="4160520" y="3931920"/>
            <a:ext cx="1828800" cy="1371600"/>
          </a:xfrm>
          <a:prstGeom prst="rect">
            <a:avLst/>
          </a:prstGeom>
          <a:noFill/>
          <a:ln/>
        </p:spPr>
        <p:txBody>
          <a:bodyPr wrap="square" lIns="0" tIns="0" rIns="0" bIns="0" rtlCol="0" anchor="t"/>
          <a:lstStyle/>
          <a:p>
            <a:pPr indent="0" marL="0">
              <a:buNone/>
            </a:pPr>
            <a:r>
              <a:rPr lang="en-US" sz="1500" b="1" dirty="0">
                <a:solidFill>
                  <a:schemeClr val="tx1"/>
                </a:solidFill>
              </a:rPr>
              <a:t>Recorrido de la Línea 4 y sus buses</a:t>
            </a:r>
            <a:endParaRPr lang="en-US" sz="1500" dirty="0"/>
          </a:p>
        </p:txBody>
      </p:sp>
      <p:pic>
        <p:nvPicPr>
          <p:cNvPr id="9" name="captura-10_finanzas" descr="Finanzas y flujo de caja">    </p:cNvPr>
          <p:cNvPicPr>
            <a:picLocks noChangeAspect="1"/>
          </p:cNvPicPr>
          <p:nvPr/>
        </p:nvPicPr>
        <p:blipFill>
          <a:blip r:embed="rId4"/>
          <a:stretch>
            <a:fillRect/>
          </a:stretch>
        </p:blipFill>
        <p:spPr>
          <a:xfrm>
            <a:off x="6172200" y="3840480"/>
            <a:ext cx="3429000" cy="2139696"/>
          </a:xfrm>
          <a:prstGeom prst="rect">
            <a:avLst/>
          </a:prstGeom>
        </p:spPr>
      </p:pic>
      <p:sp>
        <p:nvSpPr>
          <p:cNvPr id="10" name="pie-10_finanzas"/>
          <p:cNvSpPr txBox="1"/>
          <p:nvPr/>
        </p:nvSpPr>
        <p:spPr>
          <a:xfrm>
            <a:off x="9784080" y="3931920"/>
            <a:ext cx="1828800" cy="1371600"/>
          </a:xfrm>
          <a:prstGeom prst="rect">
            <a:avLst/>
          </a:prstGeom>
          <a:noFill/>
          <a:ln/>
        </p:spPr>
        <p:txBody>
          <a:bodyPr wrap="square" lIns="0" tIns="0" rIns="0" bIns="0" rtlCol="0" anchor="t"/>
          <a:lstStyle/>
          <a:p>
            <a:pPr indent="0" marL="0">
              <a:buNone/>
            </a:pPr>
            <a:r>
              <a:rPr lang="en-US" sz="1500" b="1" dirty="0">
                <a:solidFill>
                  <a:schemeClr val="tx1"/>
                </a:solidFill>
              </a:rPr>
              <a:t>Finanzas y flujo de caja</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Ejecución del plan de pruebas</a:t>
            </a:r>
            <a:endParaRPr lang="en-US" sz="3200" dirty="0"/>
          </a:p>
        </p:txBody>
      </p:sp>
      <p:graphicFrame>
        <p:nvGraphicFramePr>
          <p:cNvPr id="3" name="grafica-casos" descr=""/>
          <p:cNvGraphicFramePr/>
          <p:nvPr/>
        </p:nvGraphicFramePr>
        <p:xfrm>
          <a:off x="548640" y="1325880"/>
          <a:ext cx="4754880" cy="4480560"/>
        </p:xfrm>
        <a:graphic xmlns:a="http://schemas.openxmlformats.org/drawingml/2006/main">
          <a:graphicData uri="http://schemas.openxmlformats.org/drawingml/2006/chart">
            <c:chart xmlns:c="http://schemas.openxmlformats.org/drawingml/2006/chart" r:id="rId1"/>
          </a:graphicData>
        </a:graphic>
      </p:graphicFrame>
      <p:sp>
        <p:nvSpPr>
          <p:cNvPr id="4" name="det-titulo-0"/>
          <p:cNvSpPr txBox="1"/>
          <p:nvPr/>
        </p:nvSpPr>
        <p:spPr>
          <a:xfrm>
            <a:off x="5852160" y="1417320"/>
            <a:ext cx="5760720" cy="384048"/>
          </a:xfrm>
          <a:prstGeom prst="rect">
            <a:avLst/>
          </a:prstGeom>
          <a:noFill/>
          <a:ln/>
        </p:spPr>
        <p:txBody>
          <a:bodyPr wrap="square" lIns="0" tIns="0" rIns="0" bIns="0" rtlCol="0" anchor="t"/>
          <a:lstStyle/>
          <a:p>
            <a:pPr indent="0" marL="0">
              <a:buNone/>
            </a:pPr>
            <a:r>
              <a:rPr lang="en-US" sz="1800" b="1" dirty="0">
                <a:solidFill>
                  <a:schemeClr val="tx2"/>
                </a:solidFill>
              </a:rPr>
              <a:t>103 pruebas automáticas</a:t>
            </a:r>
            <a:endParaRPr lang="en-US" sz="1800" dirty="0"/>
          </a:p>
        </p:txBody>
      </p:sp>
      <p:sp>
        <p:nvSpPr>
          <p:cNvPr id="5" name="det-texto-0"/>
          <p:cNvSpPr txBox="1"/>
          <p:nvPr/>
        </p:nvSpPr>
        <p:spPr>
          <a:xfrm>
            <a:off x="5852160" y="1810512"/>
            <a:ext cx="5760720" cy="685800"/>
          </a:xfrm>
          <a:prstGeom prst="rect">
            <a:avLst/>
          </a:prstGeom>
          <a:noFill/>
          <a:ln/>
        </p:spPr>
        <p:txBody>
          <a:bodyPr wrap="square" lIns="0" tIns="0" rIns="0" bIns="0" rtlCol="0" anchor="t"/>
          <a:lstStyle/>
          <a:p>
            <a:pPr indent="0" marL="0">
              <a:buNone/>
            </a:pPr>
            <a:r>
              <a:rPr lang="en-US" sz="1400" dirty="0">
                <a:solidFill>
                  <a:srgbClr val="4A4F63"/>
                </a:solidFill>
              </a:rPr>
              <a:t>Jest y Supertest contra una base de datos real de pruebas; cada una lleva el ID de su caso (CP-01 a CP-51)</a:t>
            </a:r>
            <a:endParaRPr lang="en-US" sz="1400" dirty="0"/>
          </a:p>
        </p:txBody>
      </p:sp>
      <p:sp>
        <p:nvSpPr>
          <p:cNvPr id="6" name="det-titulo-1"/>
          <p:cNvSpPr txBox="1"/>
          <p:nvPr/>
        </p:nvSpPr>
        <p:spPr>
          <a:xfrm>
            <a:off x="5852160" y="2560320"/>
            <a:ext cx="5760720" cy="384048"/>
          </a:xfrm>
          <a:prstGeom prst="rect">
            <a:avLst/>
          </a:prstGeom>
          <a:noFill/>
          <a:ln/>
        </p:spPr>
        <p:txBody>
          <a:bodyPr wrap="square" lIns="0" tIns="0" rIns="0" bIns="0" rtlCol="0" anchor="t"/>
          <a:lstStyle/>
          <a:p>
            <a:pPr indent="0" marL="0">
              <a:buNone/>
            </a:pPr>
            <a:r>
              <a:rPr lang="en-US" sz="1800" b="1" dirty="0">
                <a:solidFill>
                  <a:schemeClr val="tx2"/>
                </a:solidFill>
              </a:rPr>
              <a:t>7 casos con scripts</a:t>
            </a:r>
            <a:endParaRPr lang="en-US" sz="1800" dirty="0"/>
          </a:p>
        </p:txBody>
      </p:sp>
      <p:sp>
        <p:nvSpPr>
          <p:cNvPr id="7" name="det-texto-1"/>
          <p:cNvSpPr txBox="1"/>
          <p:nvPr/>
        </p:nvSpPr>
        <p:spPr>
          <a:xfrm>
            <a:off x="5852160" y="2953512"/>
            <a:ext cx="5760720" cy="685800"/>
          </a:xfrm>
          <a:prstGeom prst="rect">
            <a:avLst/>
          </a:prstGeom>
          <a:noFill/>
          <a:ln/>
        </p:spPr>
        <p:txBody>
          <a:bodyPr wrap="square" lIns="0" tIns="0" rIns="0" bIns="0" rtlCol="0" anchor="t"/>
          <a:lstStyle/>
          <a:p>
            <a:pPr indent="0" marL="0">
              <a:buNone/>
            </a:pPr>
            <a:r>
              <a:rPr lang="en-US" sz="1400" dirty="0">
                <a:solidFill>
                  <a:srgbClr val="4A4F63"/>
                </a:solidFill>
              </a:rPr>
              <a:t>Historial, alertas solo al personal, latencia, tiempo de respuesta, respaldo y reinicio de la base</a:t>
            </a:r>
            <a:endParaRPr lang="en-US" sz="1400" dirty="0"/>
          </a:p>
        </p:txBody>
      </p:sp>
      <p:sp>
        <p:nvSpPr>
          <p:cNvPr id="8" name="det-titulo-2"/>
          <p:cNvSpPr txBox="1"/>
          <p:nvPr/>
        </p:nvSpPr>
        <p:spPr>
          <a:xfrm>
            <a:off x="5852160" y="3703320"/>
            <a:ext cx="5760720" cy="384048"/>
          </a:xfrm>
          <a:prstGeom prst="rect">
            <a:avLst/>
          </a:prstGeom>
          <a:noFill/>
          <a:ln/>
        </p:spPr>
        <p:txBody>
          <a:bodyPr wrap="square" lIns="0" tIns="0" rIns="0" bIns="0" rtlCol="0" anchor="t"/>
          <a:lstStyle/>
          <a:p>
            <a:pPr indent="0" marL="0">
              <a:buNone/>
            </a:pPr>
            <a:r>
              <a:rPr lang="en-US" sz="1800" b="1" dirty="0">
                <a:solidFill>
                  <a:schemeClr val="accent6"/>
                </a:solidFill>
              </a:rPr>
              <a:t>1 caso fallido</a:t>
            </a:r>
            <a:endParaRPr lang="en-US" sz="1800" dirty="0"/>
          </a:p>
        </p:txBody>
      </p:sp>
      <p:sp>
        <p:nvSpPr>
          <p:cNvPr id="9" name="det-texto-2"/>
          <p:cNvSpPr txBox="1"/>
          <p:nvPr/>
        </p:nvSpPr>
        <p:spPr>
          <a:xfrm>
            <a:off x="5852160" y="4096512"/>
            <a:ext cx="5760720" cy="685800"/>
          </a:xfrm>
          <a:prstGeom prst="rect">
            <a:avLst/>
          </a:prstGeom>
          <a:noFill/>
          <a:ln/>
        </p:spPr>
        <p:txBody>
          <a:bodyPr wrap="square" lIns="0" tIns="0" rIns="0" bIns="0" rtlCol="0" anchor="t"/>
          <a:lstStyle/>
          <a:p>
            <a:pPr indent="0" marL="0">
              <a:buNone/>
            </a:pPr>
            <a:r>
              <a:rPr lang="en-US" sz="1400" dirty="0">
                <a:solidFill>
                  <a:srgbClr val="4A4F63"/>
                </a:solidFill>
              </a:rPr>
              <a:t>CP-57: npm audit aún reporta una vulnerabilidad alta (zod) que exige una actualización mayor</a:t>
            </a:r>
            <a:endParaRPr lang="en-US" sz="1400" dirty="0"/>
          </a:p>
        </p:txBody>
      </p:sp>
      <p:sp>
        <p:nvSpPr>
          <p:cNvPr id="10" name="det-titulo-3"/>
          <p:cNvSpPr txBox="1"/>
          <p:nvPr/>
        </p:nvSpPr>
        <p:spPr>
          <a:xfrm>
            <a:off x="5852160" y="4846320"/>
            <a:ext cx="5760720" cy="384048"/>
          </a:xfrm>
          <a:prstGeom prst="rect">
            <a:avLst/>
          </a:prstGeom>
          <a:noFill/>
          <a:ln/>
        </p:spPr>
        <p:txBody>
          <a:bodyPr wrap="square" lIns="0" tIns="0" rIns="0" bIns="0" rtlCol="0" anchor="t"/>
          <a:lstStyle/>
          <a:p>
            <a:pPr indent="0" marL="0">
              <a:buNone/>
            </a:pPr>
            <a:r>
              <a:rPr lang="en-US" sz="1800" b="1" dirty="0">
                <a:solidFill>
                  <a:schemeClr val="tx2"/>
                </a:solidFill>
              </a:rPr>
              <a:t>5 pendientes</a:t>
            </a:r>
            <a:endParaRPr lang="en-US" sz="1800" dirty="0"/>
          </a:p>
        </p:txBody>
      </p:sp>
      <p:sp>
        <p:nvSpPr>
          <p:cNvPr id="11" name="det-texto-3"/>
          <p:cNvSpPr txBox="1"/>
          <p:nvPr/>
        </p:nvSpPr>
        <p:spPr>
          <a:xfrm>
            <a:off x="5852160" y="5239512"/>
            <a:ext cx="5760720" cy="685800"/>
          </a:xfrm>
          <a:prstGeom prst="rect">
            <a:avLst/>
          </a:prstGeom>
          <a:noFill/>
          <a:ln/>
        </p:spPr>
        <p:txBody>
          <a:bodyPr wrap="square" lIns="0" tIns="0" rIns="0" bIns="0" rtlCol="0" anchor="t"/>
          <a:lstStyle/>
          <a:p>
            <a:pPr indent="0" marL="0">
              <a:buNone/>
            </a:pPr>
            <a:r>
              <a:rPr lang="en-US" sz="1400" dirty="0">
                <a:solidFill>
                  <a:srgbClr val="4A4F63"/>
                </a:solidFill>
              </a:rPr>
              <a:t>Carga con k6, contrato OpenAPI, revisión manual de la interfaz y de operadores</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Metas de calidad frente a lo obtenido</a:t>
            </a:r>
            <a:endParaRPr lang="en-US" sz="3200" dirty="0"/>
          </a:p>
        </p:txBody>
      </p:sp>
      <p:graphicFrame>
        <p:nvGraphicFramePr>
          <p:cNvPr id="11" name="tabla-metas"/>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200400"/>
                <a:gridCol w="3108960"/>
                <a:gridCol w="3749040"/>
                <a:gridCol w="1005840"/>
              </a:tblGrid>
              <a:tr h="4754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Métrica</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10069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Meta</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10069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Obtenido</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10069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Cumple</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10069F"/>
                    </a:solidFill>
                  </a:tcPr>
                </a:tc>
              </a:tr>
              <a:tr h="475488">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Tasa de éxito de las pruebas</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95 % o más</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98.2 % del plan; 100 % automáticas</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32"/>
                          </a:solidFill>
                          <a:latin typeface="Calibri" pitchFamily="34" charset="0"/>
                          <a:ea typeface="Calibri" pitchFamily="34" charset="-122"/>
                          <a:cs typeface="Calibri" pitchFamily="34" charset="-120"/>
                        </a:rPr>
                        <a:t>Sí</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Cobertura de código</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80 % global; 90 % en servicios críticos</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93.7 % global; 100 % en buses, capacidad y pagos</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32"/>
                          </a:solidFill>
                          <a:latin typeface="Calibri" pitchFamily="34" charset="0"/>
                          <a:ea typeface="Calibri" pitchFamily="34" charset="-122"/>
                          <a:cs typeface="Calibri" pitchFamily="34" charset="-120"/>
                        </a:rPr>
                        <a:t>Sí</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Latencia de tiempo real (p95)</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2 s o menos</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7 ms (entorno local)</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32"/>
                          </a:solidFill>
                          <a:latin typeface="Calibri" pitchFamily="34" charset="0"/>
                          <a:ea typeface="Calibri" pitchFamily="34" charset="-122"/>
                          <a:cs typeface="Calibri" pitchFamily="34" charset="-120"/>
                        </a:rPr>
                        <a:t>Sí</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Respuesta de la API (p95)</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500 ms o menos</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284 ms (entorno local)</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32"/>
                          </a:solidFill>
                          <a:latin typeface="Calibri" pitchFamily="34" charset="0"/>
                          <a:ea typeface="Calibri" pitchFamily="34" charset="-122"/>
                          <a:cs typeface="Calibri" pitchFamily="34" charset="-120"/>
                        </a:rPr>
                        <a:t>Sí</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Defectos críticos abiertos</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32"/>
                          </a:solidFill>
                          <a:latin typeface="Calibri" pitchFamily="34" charset="0"/>
                          <a:ea typeface="Calibri" pitchFamily="34" charset="-122"/>
                          <a:cs typeface="Calibri" pitchFamily="34" charset="-120"/>
                        </a:rPr>
                        <a:t>Sí</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Cobertura de requerimientos</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100 %</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89 % (17 de 19)</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b="1" dirty="0">
                          <a:solidFill>
                            <a:srgbClr val="B42318"/>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Vulnerabilidades altas</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1 abierta (zod)</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b="1" dirty="0">
                          <a:solidFill>
                            <a:srgbClr val="B42318"/>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Densidad de defectos</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Menos de 1 por KLOC</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dirty="0">
                          <a:solidFill>
                            <a:srgbClr val="1F2333"/>
                          </a:solidFill>
                          <a:latin typeface="Calibri" pitchFamily="34" charset="0"/>
                          <a:ea typeface="Calibri" pitchFamily="34" charset="-122"/>
                          <a:cs typeface="Calibri" pitchFamily="34" charset="-120"/>
                        </a:rPr>
                        <a:t>1.5 por KLOC</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indent="0" marL="0">
                        <a:buNone/>
                      </a:pPr>
                      <a:r>
                        <a:rPr lang="en-US" sz="1400" b="1" dirty="0">
                          <a:solidFill>
                            <a:srgbClr val="B42318"/>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36576" marB="36576"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Defectos encontrados y corregidos</a:t>
            </a:r>
            <a:endParaRPr lang="en-US" sz="3200" dirty="0"/>
          </a:p>
        </p:txBody>
      </p:sp>
      <p:graphicFrame>
        <p:nvGraphicFramePr>
          <p:cNvPr id="3" name="grafica-defectos" descr=""/>
          <p:cNvGraphicFramePr/>
          <p:nvPr/>
        </p:nvGraphicFramePr>
        <p:xfrm>
          <a:off x="548640" y="1325880"/>
          <a:ext cx="4937760" cy="4480560"/>
        </p:xfrm>
        <a:graphic xmlns:a="http://schemas.openxmlformats.org/drawingml/2006/main">
          <a:graphicData uri="http://schemas.openxmlformats.org/drawingml/2006/chart">
            <c:chart xmlns:c="http://schemas.openxmlformats.org/drawingml/2006/chart" r:id="rId1"/>
          </a:graphicData>
        </a:graphic>
      </p:graphicFrame>
      <p:sp>
        <p:nvSpPr>
          <p:cNvPr id="4" name="def-titulo-0"/>
          <p:cNvSpPr txBox="1"/>
          <p:nvPr/>
        </p:nvSpPr>
        <p:spPr>
          <a:xfrm>
            <a:off x="5943600" y="1417320"/>
            <a:ext cx="5669280" cy="384048"/>
          </a:xfrm>
          <a:prstGeom prst="rect">
            <a:avLst/>
          </a:prstGeom>
          <a:noFill/>
          <a:ln/>
        </p:spPr>
        <p:txBody>
          <a:bodyPr wrap="square" lIns="0" tIns="0" rIns="0" bIns="0" rtlCol="0" anchor="t"/>
          <a:lstStyle/>
          <a:p>
            <a:pPr indent="0" marL="0">
              <a:buNone/>
            </a:pPr>
            <a:r>
              <a:rPr lang="en-US" sz="1800" b="1" dirty="0">
                <a:solidFill>
                  <a:schemeClr val="tx2"/>
                </a:solidFill>
              </a:rPr>
              <a:t>Mapa bloqueado en producción</a:t>
            </a:r>
            <a:endParaRPr lang="en-US" sz="1800" dirty="0"/>
          </a:p>
        </p:txBody>
      </p:sp>
      <p:sp>
        <p:nvSpPr>
          <p:cNvPr id="5" name="def-texto-0"/>
          <p:cNvSpPr txBox="1"/>
          <p:nvPr/>
        </p:nvSpPr>
        <p:spPr>
          <a:xfrm>
            <a:off x="5943600" y="1810512"/>
            <a:ext cx="5669280" cy="685800"/>
          </a:xfrm>
          <a:prstGeom prst="rect">
            <a:avLst/>
          </a:prstGeom>
          <a:noFill/>
          <a:ln/>
        </p:spPr>
        <p:txBody>
          <a:bodyPr wrap="square" lIns="0" tIns="0" rIns="0" bIns="0" rtlCol="0" anchor="t"/>
          <a:lstStyle/>
          <a:p>
            <a:pPr indent="0" marL="0">
              <a:buNone/>
            </a:pPr>
            <a:r>
              <a:rPr lang="en-US" sz="1400" dirty="0">
                <a:solidFill>
                  <a:srgbClr val="4A4F63"/>
                </a:solidFill>
              </a:rPr>
              <a:t>OpenStreetMap rechazaba los mosaicos sin cabecera Referer. Corregido</a:t>
            </a:r>
            <a:endParaRPr lang="en-US" sz="1400" dirty="0"/>
          </a:p>
        </p:txBody>
      </p:sp>
      <p:sp>
        <p:nvSpPr>
          <p:cNvPr id="6" name="def-titulo-1"/>
          <p:cNvSpPr txBox="1"/>
          <p:nvPr/>
        </p:nvSpPr>
        <p:spPr>
          <a:xfrm>
            <a:off x="5943600" y="2560320"/>
            <a:ext cx="5669280" cy="384048"/>
          </a:xfrm>
          <a:prstGeom prst="rect">
            <a:avLst/>
          </a:prstGeom>
          <a:noFill/>
          <a:ln/>
        </p:spPr>
        <p:txBody>
          <a:bodyPr wrap="square" lIns="0" tIns="0" rIns="0" bIns="0" rtlCol="0" anchor="t"/>
          <a:lstStyle/>
          <a:p>
            <a:pPr indent="0" marL="0">
              <a:buNone/>
            </a:pPr>
            <a:r>
              <a:rPr lang="en-US" sz="1800" b="1" dirty="0">
                <a:solidFill>
                  <a:schemeClr val="tx2"/>
                </a:solidFill>
              </a:rPr>
              <a:t>Administrador sin cuenta</a:t>
            </a:r>
            <a:endParaRPr lang="en-US" sz="1800" dirty="0"/>
          </a:p>
        </p:txBody>
      </p:sp>
      <p:sp>
        <p:nvSpPr>
          <p:cNvPr id="7" name="def-texto-1"/>
          <p:cNvSpPr txBox="1"/>
          <p:nvPr/>
        </p:nvSpPr>
        <p:spPr>
          <a:xfrm>
            <a:off x="5943600" y="2953512"/>
            <a:ext cx="5669280" cy="685800"/>
          </a:xfrm>
          <a:prstGeom prst="rect">
            <a:avLst/>
          </a:prstGeom>
          <a:noFill/>
          <a:ln/>
        </p:spPr>
        <p:txBody>
          <a:bodyPr wrap="square" lIns="0" tIns="0" rIns="0" bIns="0" rtlCol="0" anchor="t"/>
          <a:lstStyle/>
          <a:p>
            <a:pPr indent="0" marL="0">
              <a:buNone/>
            </a:pPr>
            <a:r>
              <a:rPr lang="en-US" sz="1400" dirty="0">
                <a:solidFill>
                  <a:srgbClr val="4A4F63"/>
                </a:solidFill>
              </a:rPr>
              <a:t>Si la base ya tenía usuarios no se creaban las cuentas del personal. Corregido</a:t>
            </a:r>
            <a:endParaRPr lang="en-US" sz="1400" dirty="0"/>
          </a:p>
        </p:txBody>
      </p:sp>
      <p:sp>
        <p:nvSpPr>
          <p:cNvPr id="8" name="def-titulo-2"/>
          <p:cNvSpPr txBox="1"/>
          <p:nvPr/>
        </p:nvSpPr>
        <p:spPr>
          <a:xfrm>
            <a:off x="5943600" y="3703320"/>
            <a:ext cx="5669280" cy="384048"/>
          </a:xfrm>
          <a:prstGeom prst="rect">
            <a:avLst/>
          </a:prstGeom>
          <a:noFill/>
          <a:ln/>
        </p:spPr>
        <p:txBody>
          <a:bodyPr wrap="square" lIns="0" tIns="0" rIns="0" bIns="0" rtlCol="0" anchor="t"/>
          <a:lstStyle/>
          <a:p>
            <a:pPr indent="0" marL="0">
              <a:buNone/>
            </a:pPr>
            <a:r>
              <a:rPr lang="en-US" sz="1800" b="1" dirty="0">
                <a:solidFill>
                  <a:schemeClr val="tx2"/>
                </a:solidFill>
              </a:rPr>
              <a:t>Vulnerabilidad en body-parser</a:t>
            </a:r>
            <a:endParaRPr lang="en-US" sz="1800" dirty="0"/>
          </a:p>
        </p:txBody>
      </p:sp>
      <p:sp>
        <p:nvSpPr>
          <p:cNvPr id="9" name="def-texto-2"/>
          <p:cNvSpPr txBox="1"/>
          <p:nvPr/>
        </p:nvSpPr>
        <p:spPr>
          <a:xfrm>
            <a:off x="5943600" y="4096512"/>
            <a:ext cx="5669280" cy="685800"/>
          </a:xfrm>
          <a:prstGeom prst="rect">
            <a:avLst/>
          </a:prstGeom>
          <a:noFill/>
          <a:ln/>
        </p:spPr>
        <p:txBody>
          <a:bodyPr wrap="square" lIns="0" tIns="0" rIns="0" bIns="0" rtlCol="0" anchor="t"/>
          <a:lstStyle/>
          <a:p>
            <a:pPr indent="0" marL="0">
              <a:buNone/>
            </a:pPr>
            <a:r>
              <a:rPr lang="en-US" sz="1400" dirty="0">
                <a:solidFill>
                  <a:srgbClr val="4A4F63"/>
                </a:solidFill>
              </a:rPr>
              <a:t>Actualizado a la versión 2.4.0. Corregido</a:t>
            </a:r>
            <a:endParaRPr lang="en-US" sz="1400" dirty="0"/>
          </a:p>
        </p:txBody>
      </p:sp>
      <p:sp>
        <p:nvSpPr>
          <p:cNvPr id="10" name="def-titulo-3"/>
          <p:cNvSpPr txBox="1"/>
          <p:nvPr/>
        </p:nvSpPr>
        <p:spPr>
          <a:xfrm>
            <a:off x="5943600" y="4846320"/>
            <a:ext cx="5669280" cy="384048"/>
          </a:xfrm>
          <a:prstGeom prst="rect">
            <a:avLst/>
          </a:prstGeom>
          <a:noFill/>
          <a:ln/>
        </p:spPr>
        <p:txBody>
          <a:bodyPr wrap="square" lIns="0" tIns="0" rIns="0" bIns="0" rtlCol="0" anchor="t"/>
          <a:lstStyle/>
          <a:p>
            <a:pPr indent="0" marL="0">
              <a:buNone/>
            </a:pPr>
            <a:r>
              <a:rPr lang="en-US" sz="1800" b="1" dirty="0">
                <a:solidFill>
                  <a:schemeClr val="accent6"/>
                </a:solidFill>
              </a:rPr>
              <a:t>Vulnerabilidades en zod, uuid y react-router</a:t>
            </a:r>
            <a:endParaRPr lang="en-US" sz="1800" dirty="0"/>
          </a:p>
        </p:txBody>
      </p:sp>
      <p:sp>
        <p:nvSpPr>
          <p:cNvPr id="11" name="def-texto-3"/>
          <p:cNvSpPr txBox="1"/>
          <p:nvPr/>
        </p:nvSpPr>
        <p:spPr>
          <a:xfrm>
            <a:off x="5943600" y="5239512"/>
            <a:ext cx="5669280" cy="685800"/>
          </a:xfrm>
          <a:prstGeom prst="rect">
            <a:avLst/>
          </a:prstGeom>
          <a:noFill/>
          <a:ln/>
        </p:spPr>
        <p:txBody>
          <a:bodyPr wrap="square" lIns="0" tIns="0" rIns="0" bIns="0" rtlCol="0" anchor="t"/>
          <a:lstStyle/>
          <a:p>
            <a:pPr indent="0" marL="0">
              <a:buNone/>
            </a:pPr>
            <a:r>
              <a:rPr lang="en-US" sz="1400" dirty="0">
                <a:solidFill>
                  <a:srgbClr val="4A4F63"/>
                </a:solidFill>
              </a:rPr>
              <a:t>Requieren actualizaciones mayores. Abiertos</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Factibilidad e inversión de la fase piloto</a:t>
            </a:r>
            <a:endParaRPr lang="en-US" sz="3200" dirty="0"/>
          </a:p>
        </p:txBody>
      </p:sp>
      <p:graphicFrame>
        <p:nvGraphicFramePr>
          <p:cNvPr id="3" name="grafica-inversion" descr=""/>
          <p:cNvGraphicFramePr/>
          <p:nvPr/>
        </p:nvGraphicFramePr>
        <p:xfrm>
          <a:off x="548640" y="1325880"/>
          <a:ext cx="6766560" cy="4526280"/>
        </p:xfrm>
        <a:graphic xmlns:a="http://schemas.openxmlformats.org/drawingml/2006/main">
          <a:graphicData uri="http://schemas.openxmlformats.org/drawingml/2006/chart">
            <c:chart xmlns:c="http://schemas.openxmlformats.org/drawingml/2006/chart" r:id="rId1"/>
          </a:graphicData>
        </a:graphic>
      </p:graphicFrame>
      <p:sp>
        <p:nvSpPr>
          <p:cNvPr id="4" name="tarjeta-total"/>
          <p:cNvSpPr/>
          <p:nvPr/>
        </p:nvSpPr>
        <p:spPr>
          <a:xfrm>
            <a:off x="7680960" y="1417320"/>
            <a:ext cx="3931920" cy="1737360"/>
          </a:xfrm>
          <a:prstGeom prst="roundRect">
            <a:avLst>
              <a:gd name="adj" fmla="val 4211"/>
            </a:avLst>
          </a:prstGeom>
          <a:solidFill>
            <a:schemeClr val="bg2"/>
          </a:solidFill>
          <a:ln w="12700">
            <a:solidFill>
              <a:schemeClr val="bg2"/>
            </a:solidFill>
            <a:prstDash val="solid"/>
          </a:ln>
        </p:spPr>
      </p:sp>
      <p:sp>
        <p:nvSpPr>
          <p:cNvPr id="5" name="total"/>
          <p:cNvSpPr txBox="1"/>
          <p:nvPr/>
        </p:nvSpPr>
        <p:spPr>
          <a:xfrm>
            <a:off x="7955280" y="1645920"/>
            <a:ext cx="3474720" cy="731520"/>
          </a:xfrm>
          <a:prstGeom prst="rect">
            <a:avLst/>
          </a:prstGeom>
          <a:noFill/>
          <a:ln/>
        </p:spPr>
        <p:txBody>
          <a:bodyPr wrap="square" lIns="0" tIns="0" rIns="0" bIns="0" rtlCol="0" anchor="t"/>
          <a:lstStyle/>
          <a:p>
            <a:pPr indent="0" marL="0">
              <a:buNone/>
            </a:pPr>
            <a:r>
              <a:rPr lang="en-US" sz="3600" b="1" dirty="0">
                <a:solidFill>
                  <a:schemeClr val="accent1"/>
                </a:solidFill>
              </a:rPr>
              <a:t>Q 1,314,000</a:t>
            </a:r>
            <a:endParaRPr lang="en-US" sz="3600" dirty="0"/>
          </a:p>
        </p:txBody>
      </p:sp>
      <p:sp>
        <p:nvSpPr>
          <p:cNvPr id="6" name="total-texto"/>
          <p:cNvSpPr txBox="1"/>
          <p:nvPr/>
        </p:nvSpPr>
        <p:spPr>
          <a:xfrm>
            <a:off x="7955280" y="2377440"/>
            <a:ext cx="3474720" cy="731520"/>
          </a:xfrm>
          <a:prstGeom prst="rect">
            <a:avLst/>
          </a:prstGeom>
          <a:noFill/>
          <a:ln/>
        </p:spPr>
        <p:txBody>
          <a:bodyPr wrap="square" lIns="0" tIns="0" rIns="0" bIns="0" rtlCol="0" anchor="t"/>
          <a:lstStyle/>
          <a:p>
            <a:pPr indent="0" marL="0">
              <a:buNone/>
            </a:pPr>
            <a:r>
              <a:rPr lang="en-US" sz="1300" dirty="0">
                <a:solidFill>
                  <a:srgbClr val="4A4F63"/>
                </a:solidFill>
              </a:rPr>
              <a:t>inversión total estimada (aprox. USD 168,500) para 3 líneas, 25 estaciones y 60 buses</a:t>
            </a:r>
            <a:endParaRPr lang="en-US" sz="1300" dirty="0"/>
          </a:p>
        </p:txBody>
      </p:sp>
      <p:sp>
        <p:nvSpPr>
          <p:cNvPr id="7" name="factibilidad"/>
          <p:cNvSpPr txBox="1"/>
          <p:nvPr/>
        </p:nvSpPr>
        <p:spPr>
          <a:xfrm>
            <a:off x="7680960" y="3429000"/>
            <a:ext cx="393192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Factible en las cinco dimensiones: técnica, operativa, económica, legal y ambiental</a:t>
            </a:r>
            <a:endParaRPr lang="en-US" sz="1400" dirty="0"/>
          </a:p>
          <a:p>
            <a:pPr marL="342900" indent="-342900">
              <a:spcAft>
                <a:spcPts val="800"/>
              </a:spcAft>
              <a:buSzPct val="100000"/>
              <a:buChar char="•"/>
            </a:pPr>
            <a:r>
              <a:rPr lang="en-US" sz="1400" dirty="0">
                <a:solidFill>
                  <a:schemeClr val="tx1"/>
                </a:solidFill>
              </a:rPr>
              <a:t>Retorno estimado en 3 a 5 años</a:t>
            </a:r>
            <a:endParaRPr lang="en-US" sz="1400" dirty="0"/>
          </a:p>
          <a:p>
            <a:pPr marL="342900" indent="-342900">
              <a:spcAft>
                <a:spcPts val="800"/>
              </a:spcAft>
              <a:buSzPct val="100000"/>
              <a:buChar char="•"/>
            </a:pPr>
            <a:r>
              <a:rPr lang="en-US" sz="1400" dirty="0">
                <a:solidFill>
                  <a:schemeClr val="tx1"/>
                </a:solidFill>
              </a:rPr>
              <a:t>Por su monto, se recomienda licitación pública o contratar por fases</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Próximos pasos</a:t>
            </a:r>
            <a:endParaRPr lang="en-US" sz="3200" dirty="0"/>
          </a:p>
        </p:txBody>
      </p:sp>
      <p:sp>
        <p:nvSpPr>
          <p:cNvPr id="3" name="paso-0"/>
          <p:cNvSpPr/>
          <p:nvPr/>
        </p:nvSpPr>
        <p:spPr>
          <a:xfrm>
            <a:off x="548640" y="1463040"/>
            <a:ext cx="3520440" cy="2148840"/>
          </a:xfrm>
          <a:prstGeom prst="roundRect">
            <a:avLst>
              <a:gd name="adj" fmla="val 3404"/>
            </a:avLst>
          </a:prstGeom>
          <a:solidFill>
            <a:schemeClr val="bg2"/>
          </a:solidFill>
          <a:ln w="12700">
            <a:solidFill>
              <a:schemeClr val="bg2"/>
            </a:solidFill>
            <a:prstDash val="solid"/>
          </a:ln>
        </p:spPr>
      </p:sp>
      <p:sp>
        <p:nvSpPr>
          <p:cNvPr id="4" name="icono-paso-0-fondo"/>
          <p:cNvSpPr/>
          <p:nvPr/>
        </p:nvSpPr>
        <p:spPr>
          <a:xfrm>
            <a:off x="822960" y="1737360"/>
            <a:ext cx="685800" cy="685800"/>
          </a:xfrm>
          <a:prstGeom prst="ellipse">
            <a:avLst/>
          </a:prstGeom>
          <a:solidFill>
            <a:schemeClr val="bg2"/>
          </a:solidFill>
          <a:ln w="12700">
            <a:solidFill>
              <a:schemeClr val="bg2"/>
            </a:solidFill>
            <a:prstDash val="solid"/>
          </a:ln>
        </p:spPr>
      </p:sp>
      <p:pic>
        <p:nvPicPr>
          <p:cNvPr id="5" name="icono-paso-0" descr="icono-paso-0">    </p:cNvPr>
          <p:cNvPicPr>
            <a:picLocks noChangeAspect="1"/>
          </p:cNvPicPr>
          <p:nvPr/>
        </p:nvPicPr>
        <p:blipFill>
          <a:blip r:embed="rId1"/>
          <a:stretch>
            <a:fillRect/>
          </a:stretch>
        </p:blipFill>
        <p:spPr>
          <a:xfrm>
            <a:off x="973836" y="1888236"/>
            <a:ext cx="384048" cy="384048"/>
          </a:xfrm>
          <a:prstGeom prst="rect">
            <a:avLst/>
          </a:prstGeom>
        </p:spPr>
      </p:pic>
      <p:sp>
        <p:nvSpPr>
          <p:cNvPr id="6" name="paso-titulo-0"/>
          <p:cNvSpPr txBox="1"/>
          <p:nvPr/>
        </p:nvSpPr>
        <p:spPr>
          <a:xfrm>
            <a:off x="822960" y="2514600"/>
            <a:ext cx="3017520" cy="411480"/>
          </a:xfrm>
          <a:prstGeom prst="rect">
            <a:avLst/>
          </a:prstGeom>
          <a:noFill/>
          <a:ln/>
        </p:spPr>
        <p:txBody>
          <a:bodyPr wrap="square" lIns="0" tIns="0" rIns="0" bIns="0" rtlCol="0" anchor="t"/>
          <a:lstStyle/>
          <a:p>
            <a:pPr indent="0" marL="0">
              <a:buNone/>
            </a:pPr>
            <a:r>
              <a:rPr lang="en-US" sz="1800" b="1" dirty="0">
                <a:solidFill>
                  <a:schemeClr val="tx1"/>
                </a:solidFill>
              </a:rPr>
              <a:t>Operación sin conexión</a:t>
            </a:r>
            <a:endParaRPr lang="en-US" sz="1800" dirty="0"/>
          </a:p>
        </p:txBody>
      </p:sp>
      <p:sp>
        <p:nvSpPr>
          <p:cNvPr id="7" name="paso-texto-0"/>
          <p:cNvSpPr txBox="1"/>
          <p:nvPr/>
        </p:nvSpPr>
        <p:spPr>
          <a:xfrm>
            <a:off x="822960" y="2926080"/>
            <a:ext cx="3017520" cy="640080"/>
          </a:xfrm>
          <a:prstGeom prst="rect">
            <a:avLst/>
          </a:prstGeom>
          <a:noFill/>
          <a:ln/>
        </p:spPr>
        <p:txBody>
          <a:bodyPr wrap="square" lIns="0" tIns="0" rIns="0" bIns="0" rtlCol="0" anchor="t"/>
          <a:lstStyle/>
          <a:p>
            <a:pPr indent="0" marL="0">
              <a:buNone/>
            </a:pPr>
            <a:r>
              <a:rPr lang="en-US" sz="1400" dirty="0">
                <a:solidFill>
                  <a:srgbClr val="4A4F63"/>
                </a:solidFill>
              </a:rPr>
              <a:t>PWA con IndexedDB en la PC de cada estación (RF-12)</a:t>
            </a:r>
            <a:endParaRPr lang="en-US" sz="1400" dirty="0"/>
          </a:p>
        </p:txBody>
      </p:sp>
      <p:sp>
        <p:nvSpPr>
          <p:cNvPr id="8" name="paso-1"/>
          <p:cNvSpPr/>
          <p:nvPr/>
        </p:nvSpPr>
        <p:spPr>
          <a:xfrm>
            <a:off x="4297680" y="1463040"/>
            <a:ext cx="3520440" cy="2148840"/>
          </a:xfrm>
          <a:prstGeom prst="roundRect">
            <a:avLst>
              <a:gd name="adj" fmla="val 3404"/>
            </a:avLst>
          </a:prstGeom>
          <a:solidFill>
            <a:schemeClr val="bg2"/>
          </a:solidFill>
          <a:ln w="12700">
            <a:solidFill>
              <a:schemeClr val="bg2"/>
            </a:solidFill>
            <a:prstDash val="solid"/>
          </a:ln>
        </p:spPr>
      </p:sp>
      <p:sp>
        <p:nvSpPr>
          <p:cNvPr id="9" name="icono-paso-1-fondo"/>
          <p:cNvSpPr/>
          <p:nvPr/>
        </p:nvSpPr>
        <p:spPr>
          <a:xfrm>
            <a:off x="4572000" y="1737360"/>
            <a:ext cx="685800" cy="685800"/>
          </a:xfrm>
          <a:prstGeom prst="ellipse">
            <a:avLst/>
          </a:prstGeom>
          <a:solidFill>
            <a:schemeClr val="bg2"/>
          </a:solidFill>
          <a:ln w="12700">
            <a:solidFill>
              <a:schemeClr val="bg2"/>
            </a:solidFill>
            <a:prstDash val="solid"/>
          </a:ln>
        </p:spPr>
      </p:sp>
      <p:pic>
        <p:nvPicPr>
          <p:cNvPr id="10" name="icono-paso-1" descr="icono-paso-1">    </p:cNvPr>
          <p:cNvPicPr>
            <a:picLocks noChangeAspect="1"/>
          </p:cNvPicPr>
          <p:nvPr/>
        </p:nvPicPr>
        <p:blipFill>
          <a:blip r:embed="rId2"/>
          <a:stretch>
            <a:fillRect/>
          </a:stretch>
        </p:blipFill>
        <p:spPr>
          <a:xfrm>
            <a:off x="4722876" y="1888236"/>
            <a:ext cx="384048" cy="384048"/>
          </a:xfrm>
          <a:prstGeom prst="rect">
            <a:avLst/>
          </a:prstGeom>
        </p:spPr>
      </p:pic>
      <p:sp>
        <p:nvSpPr>
          <p:cNvPr id="11" name="paso-titulo-1"/>
          <p:cNvSpPr txBox="1"/>
          <p:nvPr/>
        </p:nvSpPr>
        <p:spPr>
          <a:xfrm>
            <a:off x="4572000" y="2514600"/>
            <a:ext cx="3017520" cy="411480"/>
          </a:xfrm>
          <a:prstGeom prst="rect">
            <a:avLst/>
          </a:prstGeom>
          <a:noFill/>
          <a:ln/>
        </p:spPr>
        <p:txBody>
          <a:bodyPr wrap="square" lIns="0" tIns="0" rIns="0" bIns="0" rtlCol="0" anchor="t"/>
          <a:lstStyle/>
          <a:p>
            <a:pPr indent="0" marL="0">
              <a:buNone/>
            </a:pPr>
            <a:r>
              <a:rPr lang="en-US" sz="1800" b="1" dirty="0">
                <a:solidFill>
                  <a:schemeClr val="tx1"/>
                </a:solidFill>
              </a:rPr>
              <a:t>Integrar hardware</a:t>
            </a:r>
            <a:endParaRPr lang="en-US" sz="1800" dirty="0"/>
          </a:p>
        </p:txBody>
      </p:sp>
      <p:sp>
        <p:nvSpPr>
          <p:cNvPr id="12" name="paso-texto-1"/>
          <p:cNvSpPr txBox="1"/>
          <p:nvPr/>
        </p:nvSpPr>
        <p:spPr>
          <a:xfrm>
            <a:off x="4572000" y="2926080"/>
            <a:ext cx="3017520" cy="640080"/>
          </a:xfrm>
          <a:prstGeom prst="rect">
            <a:avLst/>
          </a:prstGeom>
          <a:noFill/>
          <a:ln/>
        </p:spPr>
        <p:txBody>
          <a:bodyPr wrap="square" lIns="0" tIns="0" rIns="0" bIns="0" rtlCol="0" anchor="t"/>
          <a:lstStyle/>
          <a:p>
            <a:pPr indent="0" marL="0">
              <a:buNone/>
            </a:pPr>
            <a:r>
              <a:rPr lang="en-US" sz="1400" dirty="0">
                <a:solidFill>
                  <a:srgbClr val="4A4F63"/>
                </a:solidFill>
              </a:rPr>
              <a:t>GPS, cámaras IP, validadores y pasarela de pago real</a:t>
            </a:r>
            <a:endParaRPr lang="en-US" sz="1400" dirty="0"/>
          </a:p>
        </p:txBody>
      </p:sp>
      <p:sp>
        <p:nvSpPr>
          <p:cNvPr id="13" name="paso-2"/>
          <p:cNvSpPr/>
          <p:nvPr/>
        </p:nvSpPr>
        <p:spPr>
          <a:xfrm>
            <a:off x="8046720" y="1463040"/>
            <a:ext cx="3520440" cy="2148840"/>
          </a:xfrm>
          <a:prstGeom prst="roundRect">
            <a:avLst>
              <a:gd name="adj" fmla="val 3404"/>
            </a:avLst>
          </a:prstGeom>
          <a:solidFill>
            <a:schemeClr val="bg2"/>
          </a:solidFill>
          <a:ln w="12700">
            <a:solidFill>
              <a:schemeClr val="bg2"/>
            </a:solidFill>
            <a:prstDash val="solid"/>
          </a:ln>
        </p:spPr>
      </p:sp>
      <p:sp>
        <p:nvSpPr>
          <p:cNvPr id="14" name="icono-paso-2-fondo"/>
          <p:cNvSpPr/>
          <p:nvPr/>
        </p:nvSpPr>
        <p:spPr>
          <a:xfrm>
            <a:off x="8321040" y="1737360"/>
            <a:ext cx="685800" cy="685800"/>
          </a:xfrm>
          <a:prstGeom prst="ellipse">
            <a:avLst/>
          </a:prstGeom>
          <a:solidFill>
            <a:schemeClr val="bg2"/>
          </a:solidFill>
          <a:ln w="12700">
            <a:solidFill>
              <a:schemeClr val="bg2"/>
            </a:solidFill>
            <a:prstDash val="solid"/>
          </a:ln>
        </p:spPr>
      </p:sp>
      <p:pic>
        <p:nvPicPr>
          <p:cNvPr id="15" name="icono-paso-2" descr="icono-paso-2">    </p:cNvPr>
          <p:cNvPicPr>
            <a:picLocks noChangeAspect="1"/>
          </p:cNvPicPr>
          <p:nvPr/>
        </p:nvPicPr>
        <p:blipFill>
          <a:blip r:embed="rId3"/>
          <a:stretch>
            <a:fillRect/>
          </a:stretch>
        </p:blipFill>
        <p:spPr>
          <a:xfrm>
            <a:off x="8471916" y="1888236"/>
            <a:ext cx="384048" cy="384048"/>
          </a:xfrm>
          <a:prstGeom prst="rect">
            <a:avLst/>
          </a:prstGeom>
        </p:spPr>
      </p:pic>
      <p:sp>
        <p:nvSpPr>
          <p:cNvPr id="16" name="paso-titulo-2"/>
          <p:cNvSpPr txBox="1"/>
          <p:nvPr/>
        </p:nvSpPr>
        <p:spPr>
          <a:xfrm>
            <a:off x="8321040" y="2514600"/>
            <a:ext cx="3017520" cy="411480"/>
          </a:xfrm>
          <a:prstGeom prst="rect">
            <a:avLst/>
          </a:prstGeom>
          <a:noFill/>
          <a:ln/>
        </p:spPr>
        <p:txBody>
          <a:bodyPr wrap="square" lIns="0" tIns="0" rIns="0" bIns="0" rtlCol="0" anchor="t"/>
          <a:lstStyle/>
          <a:p>
            <a:pPr indent="0" marL="0">
              <a:buNone/>
            </a:pPr>
            <a:r>
              <a:rPr lang="en-US" sz="1800" b="1" dirty="0">
                <a:solidFill>
                  <a:schemeClr val="tx1"/>
                </a:solidFill>
              </a:rPr>
              <a:t>Pruebas de carga y E2E</a:t>
            </a:r>
            <a:endParaRPr lang="en-US" sz="1800" dirty="0"/>
          </a:p>
        </p:txBody>
      </p:sp>
      <p:sp>
        <p:nvSpPr>
          <p:cNvPr id="17" name="paso-texto-2"/>
          <p:cNvSpPr txBox="1"/>
          <p:nvPr/>
        </p:nvSpPr>
        <p:spPr>
          <a:xfrm>
            <a:off x="8321040" y="2926080"/>
            <a:ext cx="3017520" cy="640080"/>
          </a:xfrm>
          <a:prstGeom prst="rect">
            <a:avLst/>
          </a:prstGeom>
          <a:noFill/>
          <a:ln/>
        </p:spPr>
        <p:txBody>
          <a:bodyPr wrap="square" lIns="0" tIns="0" rIns="0" bIns="0" rtlCol="0" anchor="t"/>
          <a:lstStyle/>
          <a:p>
            <a:pPr indent="0" marL="0">
              <a:buNone/>
            </a:pPr>
            <a:r>
              <a:rPr lang="en-US" sz="1400" dirty="0">
                <a:solidFill>
                  <a:srgbClr val="4A4F63"/>
                </a:solidFill>
              </a:rPr>
              <a:t>k6 contra el sitio publicado y flujos con Playwright</a:t>
            </a:r>
            <a:endParaRPr lang="en-US" sz="1400" dirty="0"/>
          </a:p>
        </p:txBody>
      </p:sp>
      <p:sp>
        <p:nvSpPr>
          <p:cNvPr id="18" name="paso-3"/>
          <p:cNvSpPr/>
          <p:nvPr/>
        </p:nvSpPr>
        <p:spPr>
          <a:xfrm>
            <a:off x="548640" y="3840480"/>
            <a:ext cx="3520440" cy="2148840"/>
          </a:xfrm>
          <a:prstGeom prst="roundRect">
            <a:avLst>
              <a:gd name="adj" fmla="val 3404"/>
            </a:avLst>
          </a:prstGeom>
          <a:solidFill>
            <a:schemeClr val="bg2"/>
          </a:solidFill>
          <a:ln w="12700">
            <a:solidFill>
              <a:schemeClr val="bg2"/>
            </a:solidFill>
            <a:prstDash val="solid"/>
          </a:ln>
        </p:spPr>
      </p:sp>
      <p:sp>
        <p:nvSpPr>
          <p:cNvPr id="19" name="icono-paso-3-fondo"/>
          <p:cNvSpPr/>
          <p:nvPr/>
        </p:nvSpPr>
        <p:spPr>
          <a:xfrm>
            <a:off x="822960" y="4114800"/>
            <a:ext cx="685800" cy="685800"/>
          </a:xfrm>
          <a:prstGeom prst="ellipse">
            <a:avLst/>
          </a:prstGeom>
          <a:solidFill>
            <a:schemeClr val="bg2"/>
          </a:solidFill>
          <a:ln w="12700">
            <a:solidFill>
              <a:schemeClr val="bg2"/>
            </a:solidFill>
            <a:prstDash val="solid"/>
          </a:ln>
        </p:spPr>
      </p:sp>
      <p:pic>
        <p:nvPicPr>
          <p:cNvPr id="20" name="icono-paso-3" descr="icono-paso-3">    </p:cNvPr>
          <p:cNvPicPr>
            <a:picLocks noChangeAspect="1"/>
          </p:cNvPicPr>
          <p:nvPr/>
        </p:nvPicPr>
        <p:blipFill>
          <a:blip r:embed="rId4"/>
          <a:stretch>
            <a:fillRect/>
          </a:stretch>
        </p:blipFill>
        <p:spPr>
          <a:xfrm>
            <a:off x="973836" y="4265676"/>
            <a:ext cx="384048" cy="384048"/>
          </a:xfrm>
          <a:prstGeom prst="rect">
            <a:avLst/>
          </a:prstGeom>
        </p:spPr>
      </p:pic>
      <p:sp>
        <p:nvSpPr>
          <p:cNvPr id="21" name="paso-titulo-3"/>
          <p:cNvSpPr txBox="1"/>
          <p:nvPr/>
        </p:nvSpPr>
        <p:spPr>
          <a:xfrm>
            <a:off x="822960" y="4892040"/>
            <a:ext cx="3017520" cy="411480"/>
          </a:xfrm>
          <a:prstGeom prst="rect">
            <a:avLst/>
          </a:prstGeom>
          <a:noFill/>
          <a:ln/>
        </p:spPr>
        <p:txBody>
          <a:bodyPr wrap="square" lIns="0" tIns="0" rIns="0" bIns="0" rtlCol="0" anchor="t"/>
          <a:lstStyle/>
          <a:p>
            <a:pPr indent="0" marL="0">
              <a:buNone/>
            </a:pPr>
            <a:r>
              <a:rPr lang="en-US" sz="1800" b="1" dirty="0">
                <a:solidFill>
                  <a:schemeClr val="tx1"/>
                </a:solidFill>
              </a:rPr>
              <a:t>Integración continua</a:t>
            </a:r>
            <a:endParaRPr lang="en-US" sz="1800" dirty="0"/>
          </a:p>
        </p:txBody>
      </p:sp>
      <p:sp>
        <p:nvSpPr>
          <p:cNvPr id="22" name="paso-texto-3"/>
          <p:cNvSpPr txBox="1"/>
          <p:nvPr/>
        </p:nvSpPr>
        <p:spPr>
          <a:xfrm>
            <a:off x="822960" y="5303520"/>
            <a:ext cx="3017520" cy="640080"/>
          </a:xfrm>
          <a:prstGeom prst="rect">
            <a:avLst/>
          </a:prstGeom>
          <a:noFill/>
          <a:ln/>
        </p:spPr>
        <p:txBody>
          <a:bodyPr wrap="square" lIns="0" tIns="0" rIns="0" bIns="0" rtlCol="0" anchor="t"/>
          <a:lstStyle/>
          <a:p>
            <a:pPr indent="0" marL="0">
              <a:buNone/>
            </a:pPr>
            <a:r>
              <a:rPr lang="en-US" sz="1400" dirty="0">
                <a:solidFill>
                  <a:srgbClr val="4A4F63"/>
                </a:solidFill>
              </a:rPr>
              <a:t>GitHub Actions y SonarQube en cada cambio</a:t>
            </a:r>
            <a:endParaRPr lang="en-US" sz="1400" dirty="0"/>
          </a:p>
        </p:txBody>
      </p:sp>
      <p:sp>
        <p:nvSpPr>
          <p:cNvPr id="23" name="paso-4"/>
          <p:cNvSpPr/>
          <p:nvPr/>
        </p:nvSpPr>
        <p:spPr>
          <a:xfrm>
            <a:off x="4297680" y="3840480"/>
            <a:ext cx="3520440" cy="2148840"/>
          </a:xfrm>
          <a:prstGeom prst="roundRect">
            <a:avLst>
              <a:gd name="adj" fmla="val 3404"/>
            </a:avLst>
          </a:prstGeom>
          <a:solidFill>
            <a:schemeClr val="bg2"/>
          </a:solidFill>
          <a:ln w="12700">
            <a:solidFill>
              <a:schemeClr val="bg2"/>
            </a:solidFill>
            <a:prstDash val="solid"/>
          </a:ln>
        </p:spPr>
      </p:sp>
      <p:sp>
        <p:nvSpPr>
          <p:cNvPr id="24" name="icono-paso-4-fondo"/>
          <p:cNvSpPr/>
          <p:nvPr/>
        </p:nvSpPr>
        <p:spPr>
          <a:xfrm>
            <a:off x="4572000" y="4114800"/>
            <a:ext cx="685800" cy="685800"/>
          </a:xfrm>
          <a:prstGeom prst="ellipse">
            <a:avLst/>
          </a:prstGeom>
          <a:solidFill>
            <a:schemeClr val="bg2"/>
          </a:solidFill>
          <a:ln w="12700">
            <a:solidFill>
              <a:schemeClr val="bg2"/>
            </a:solidFill>
            <a:prstDash val="solid"/>
          </a:ln>
        </p:spPr>
      </p:sp>
      <p:pic>
        <p:nvPicPr>
          <p:cNvPr id="25" name="icono-paso-4" descr="icono-paso-4">    </p:cNvPr>
          <p:cNvPicPr>
            <a:picLocks noChangeAspect="1"/>
          </p:cNvPicPr>
          <p:nvPr/>
        </p:nvPicPr>
        <p:blipFill>
          <a:blip r:embed="rId5"/>
          <a:stretch>
            <a:fillRect/>
          </a:stretch>
        </p:blipFill>
        <p:spPr>
          <a:xfrm>
            <a:off x="4722876" y="4265676"/>
            <a:ext cx="384048" cy="384048"/>
          </a:xfrm>
          <a:prstGeom prst="rect">
            <a:avLst/>
          </a:prstGeom>
        </p:spPr>
      </p:pic>
      <p:sp>
        <p:nvSpPr>
          <p:cNvPr id="26" name="paso-titulo-4"/>
          <p:cNvSpPr txBox="1"/>
          <p:nvPr/>
        </p:nvSpPr>
        <p:spPr>
          <a:xfrm>
            <a:off x="4572000" y="4892040"/>
            <a:ext cx="3017520" cy="411480"/>
          </a:xfrm>
          <a:prstGeom prst="rect">
            <a:avLst/>
          </a:prstGeom>
          <a:noFill/>
          <a:ln/>
        </p:spPr>
        <p:txBody>
          <a:bodyPr wrap="square" lIns="0" tIns="0" rIns="0" bIns="0" rtlCol="0" anchor="t"/>
          <a:lstStyle/>
          <a:p>
            <a:pPr indent="0" marL="0">
              <a:buNone/>
            </a:pPr>
            <a:r>
              <a:rPr lang="en-US" sz="1800" b="1" dirty="0">
                <a:solidFill>
                  <a:schemeClr val="tx1"/>
                </a:solidFill>
              </a:rPr>
              <a:t>Contrato de la API</a:t>
            </a:r>
            <a:endParaRPr lang="en-US" sz="1800" dirty="0"/>
          </a:p>
        </p:txBody>
      </p:sp>
      <p:sp>
        <p:nvSpPr>
          <p:cNvPr id="27" name="paso-texto-4"/>
          <p:cNvSpPr txBox="1"/>
          <p:nvPr/>
        </p:nvSpPr>
        <p:spPr>
          <a:xfrm>
            <a:off x="4572000" y="5303520"/>
            <a:ext cx="3017520" cy="640080"/>
          </a:xfrm>
          <a:prstGeom prst="rect">
            <a:avLst/>
          </a:prstGeom>
          <a:noFill/>
          <a:ln/>
        </p:spPr>
        <p:txBody>
          <a:bodyPr wrap="square" lIns="0" tIns="0" rIns="0" bIns="0" rtlCol="0" anchor="t"/>
          <a:lstStyle/>
          <a:p>
            <a:pPr indent="0" marL="0">
              <a:buNone/>
            </a:pPr>
            <a:r>
              <a:rPr lang="en-US" sz="1400" dirty="0">
                <a:solidFill>
                  <a:srgbClr val="4A4F63"/>
                </a:solidFill>
              </a:rPr>
              <a:t>Documentación OpenAPI para otros sistemas (RNF-5)</a:t>
            </a:r>
            <a:endParaRPr lang="en-US" sz="1400" dirty="0"/>
          </a:p>
        </p:txBody>
      </p:sp>
      <p:sp>
        <p:nvSpPr>
          <p:cNvPr id="28" name="paso-5"/>
          <p:cNvSpPr/>
          <p:nvPr/>
        </p:nvSpPr>
        <p:spPr>
          <a:xfrm>
            <a:off x="8046720" y="3840480"/>
            <a:ext cx="3520440" cy="2148840"/>
          </a:xfrm>
          <a:prstGeom prst="roundRect">
            <a:avLst>
              <a:gd name="adj" fmla="val 3404"/>
            </a:avLst>
          </a:prstGeom>
          <a:solidFill>
            <a:schemeClr val="bg2"/>
          </a:solidFill>
          <a:ln w="12700">
            <a:solidFill>
              <a:schemeClr val="bg2"/>
            </a:solidFill>
            <a:prstDash val="solid"/>
          </a:ln>
        </p:spPr>
      </p:sp>
      <p:sp>
        <p:nvSpPr>
          <p:cNvPr id="29" name="icono-paso-5-fondo"/>
          <p:cNvSpPr/>
          <p:nvPr/>
        </p:nvSpPr>
        <p:spPr>
          <a:xfrm>
            <a:off x="8321040" y="4114800"/>
            <a:ext cx="685800" cy="685800"/>
          </a:xfrm>
          <a:prstGeom prst="ellipse">
            <a:avLst/>
          </a:prstGeom>
          <a:solidFill>
            <a:schemeClr val="bg2"/>
          </a:solidFill>
          <a:ln w="12700">
            <a:solidFill>
              <a:schemeClr val="bg2"/>
            </a:solidFill>
            <a:prstDash val="solid"/>
          </a:ln>
        </p:spPr>
      </p:sp>
      <p:pic>
        <p:nvPicPr>
          <p:cNvPr id="30" name="icono-paso-5" descr="icono-paso-5">    </p:cNvPr>
          <p:cNvPicPr>
            <a:picLocks noChangeAspect="1"/>
          </p:cNvPicPr>
          <p:nvPr/>
        </p:nvPicPr>
        <p:blipFill>
          <a:blip r:embed="rId6"/>
          <a:stretch>
            <a:fillRect/>
          </a:stretch>
        </p:blipFill>
        <p:spPr>
          <a:xfrm>
            <a:off x="8471916" y="4265676"/>
            <a:ext cx="384048" cy="384048"/>
          </a:xfrm>
          <a:prstGeom prst="rect">
            <a:avLst/>
          </a:prstGeom>
        </p:spPr>
      </p:pic>
      <p:sp>
        <p:nvSpPr>
          <p:cNvPr id="31" name="paso-titulo-5"/>
          <p:cNvSpPr txBox="1"/>
          <p:nvPr/>
        </p:nvSpPr>
        <p:spPr>
          <a:xfrm>
            <a:off x="8321040" y="4892040"/>
            <a:ext cx="3017520" cy="411480"/>
          </a:xfrm>
          <a:prstGeom prst="rect">
            <a:avLst/>
          </a:prstGeom>
          <a:noFill/>
          <a:ln/>
        </p:spPr>
        <p:txBody>
          <a:bodyPr wrap="square" lIns="0" tIns="0" rIns="0" bIns="0" rtlCol="0" anchor="t"/>
          <a:lstStyle/>
          <a:p>
            <a:pPr indent="0" marL="0">
              <a:buNone/>
            </a:pPr>
            <a:r>
              <a:rPr lang="en-US" sz="1800" b="1" dirty="0">
                <a:solidFill>
                  <a:schemeClr val="tx1"/>
                </a:solidFill>
              </a:rPr>
              <a:t>Cerrar vulnerabilidades</a:t>
            </a:r>
            <a:endParaRPr lang="en-US" sz="1800" dirty="0"/>
          </a:p>
        </p:txBody>
      </p:sp>
      <p:sp>
        <p:nvSpPr>
          <p:cNvPr id="32" name="paso-texto-5"/>
          <p:cNvSpPr txBox="1"/>
          <p:nvPr/>
        </p:nvSpPr>
        <p:spPr>
          <a:xfrm>
            <a:off x="8321040" y="5303520"/>
            <a:ext cx="3017520" cy="640080"/>
          </a:xfrm>
          <a:prstGeom prst="rect">
            <a:avLst/>
          </a:prstGeom>
          <a:noFill/>
          <a:ln/>
        </p:spPr>
        <p:txBody>
          <a:bodyPr wrap="square" lIns="0" tIns="0" rIns="0" bIns="0" rtlCol="0" anchor="t"/>
          <a:lstStyle/>
          <a:p>
            <a:pPr indent="0" marL="0">
              <a:buNone/>
            </a:pPr>
            <a:r>
              <a:rPr lang="en-US" sz="1400" dirty="0">
                <a:solidFill>
                  <a:srgbClr val="4A4F63"/>
                </a:solidFill>
              </a:rPr>
              <a:t>Migrar a zod 4 y actualizar dependencias (RNF-3)</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lIns="0" tIns="0" rIns="0" bIns="0" rtlCol="0" anchor="ctr"/>
          <a:lstStyle/>
          <a:p>
            <a:pPr algn="l" indent="0" marL="0">
              <a:buNone/>
            </a:pPr>
            <a:r>
              <a:rPr lang="en-US" sz="4000" b="1" dirty="0">
                <a:solidFill>
                  <a:schemeClr val="bg1"/>
                </a:solidFill>
              </a:rPr>
              <a:t>Gracias</a:t>
            </a:r>
            <a:endParaRPr lang="en-US" sz="4000" dirty="0"/>
          </a:p>
        </p:txBody>
      </p:sp>
      <p:sp>
        <p:nvSpPr>
          <p:cNvPr id="3" name="mensaje-final"/>
          <p:cNvSpPr txBox="1"/>
          <p:nvPr/>
        </p:nvSpPr>
        <p:spPr>
          <a:xfrm>
            <a:off x="731520" y="1645920"/>
            <a:ext cx="10698480" cy="1005840"/>
          </a:xfrm>
          <a:prstGeom prst="rect">
            <a:avLst/>
          </a:prstGeom>
          <a:noFill/>
          <a:ln/>
        </p:spPr>
        <p:txBody>
          <a:bodyPr wrap="square" lIns="0" tIns="0" rIns="0" bIns="0" rtlCol="0" anchor="t"/>
          <a:lstStyle/>
          <a:p>
            <a:pPr indent="0" marL="0">
              <a:buNone/>
            </a:pPr>
            <a:r>
              <a:rPr lang="en-US" sz="2000" dirty="0">
                <a:solidFill>
                  <a:schemeClr val="bg1"/>
                </a:solidFill>
              </a:rPr>
              <a:t>El sistema unifica a las municipalidades, hace cumplir las reglas de operación, monitorea en tiempo real y atiende al ciudadano, con una calidad verificada y medida.</a:t>
            </a:r>
            <a:endParaRPr lang="en-US" sz="2000" dirty="0"/>
          </a:p>
        </p:txBody>
      </p:sp>
      <p:pic>
        <p:nvPicPr>
          <p:cNvPr id="4" name="icono-enlace-0" descr="Repositorio">    </p:cNvPr>
          <p:cNvPicPr>
            <a:picLocks noChangeAspect="1"/>
          </p:cNvPicPr>
          <p:nvPr/>
        </p:nvPicPr>
        <p:blipFill>
          <a:blip r:embed="rId1"/>
          <a:stretch>
            <a:fillRect/>
          </a:stretch>
        </p:blipFill>
        <p:spPr>
          <a:xfrm>
            <a:off x="731520" y="3154680"/>
            <a:ext cx="548640" cy="548640"/>
          </a:xfrm>
          <a:prstGeom prst="rect">
            <a:avLst/>
          </a:prstGeom>
        </p:spPr>
      </p:pic>
      <p:sp>
        <p:nvSpPr>
          <p:cNvPr id="5" name="enlace-titulo-0"/>
          <p:cNvSpPr txBox="1"/>
          <p:nvPr/>
        </p:nvSpPr>
        <p:spPr>
          <a:xfrm>
            <a:off x="1508760" y="3108960"/>
            <a:ext cx="3657600" cy="320040"/>
          </a:xfrm>
          <a:prstGeom prst="rect">
            <a:avLst/>
          </a:prstGeom>
          <a:noFill/>
          <a:ln/>
        </p:spPr>
        <p:txBody>
          <a:bodyPr wrap="square" lIns="0" tIns="0" rIns="0" bIns="0" rtlCol="0" anchor="t"/>
          <a:lstStyle/>
          <a:p>
            <a:pPr indent="0" marL="0">
              <a:buNone/>
            </a:pPr>
            <a:r>
              <a:rPr lang="en-US" sz="1400" b="1" dirty="0">
                <a:solidFill>
                  <a:schemeClr val="accent2"/>
                </a:solidFill>
              </a:rPr>
              <a:t>Repositorio</a:t>
            </a:r>
            <a:endParaRPr lang="en-US" sz="1400" dirty="0"/>
          </a:p>
        </p:txBody>
      </p:sp>
      <p:sp>
        <p:nvSpPr>
          <p:cNvPr id="6" name="enlace-0"/>
          <p:cNvSpPr txBox="1"/>
          <p:nvPr/>
        </p:nvSpPr>
        <p:spPr>
          <a:xfrm>
            <a:off x="1508760" y="3438144"/>
            <a:ext cx="9144000" cy="411480"/>
          </a:xfrm>
          <a:prstGeom prst="rect">
            <a:avLst/>
          </a:prstGeom>
          <a:noFill/>
          <a:ln/>
        </p:spPr>
        <p:txBody>
          <a:bodyPr wrap="square" lIns="0" tIns="0" rIns="0" bIns="0" rtlCol="0" anchor="t"/>
          <a:lstStyle/>
          <a:p>
            <a:pPr indent="0" marL="0">
              <a:buNone/>
            </a:pPr>
            <a:r>
              <a:rPr lang="en-US" sz="18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https://github.com/ernesto615/Transmetro</a:t>
            </a:r>
            <a:endParaRPr lang="en-US" sz="1800" dirty="0"/>
          </a:p>
        </p:txBody>
      </p:sp>
      <p:pic>
        <p:nvPicPr>
          <p:cNvPr id="7" name="icono-enlace-1" descr="Aplicación publicada">    </p:cNvPr>
          <p:cNvPicPr>
            <a:picLocks noChangeAspect="1"/>
          </p:cNvPicPr>
          <p:nvPr/>
        </p:nvPicPr>
        <p:blipFill>
          <a:blip r:embed="rId3"/>
          <a:stretch>
            <a:fillRect/>
          </a:stretch>
        </p:blipFill>
        <p:spPr>
          <a:xfrm>
            <a:off x="731520" y="4160520"/>
            <a:ext cx="548640" cy="548640"/>
          </a:xfrm>
          <a:prstGeom prst="rect">
            <a:avLst/>
          </a:prstGeom>
        </p:spPr>
      </p:pic>
      <p:sp>
        <p:nvSpPr>
          <p:cNvPr id="8" name="enlace-titulo-1"/>
          <p:cNvSpPr txBox="1"/>
          <p:nvPr/>
        </p:nvSpPr>
        <p:spPr>
          <a:xfrm>
            <a:off x="1508760" y="4114800"/>
            <a:ext cx="3657600" cy="320040"/>
          </a:xfrm>
          <a:prstGeom prst="rect">
            <a:avLst/>
          </a:prstGeom>
          <a:noFill/>
          <a:ln/>
        </p:spPr>
        <p:txBody>
          <a:bodyPr wrap="square" lIns="0" tIns="0" rIns="0" bIns="0" rtlCol="0" anchor="t"/>
          <a:lstStyle/>
          <a:p>
            <a:pPr indent="0" marL="0">
              <a:buNone/>
            </a:pPr>
            <a:r>
              <a:rPr lang="en-US" sz="1400" b="1" dirty="0">
                <a:solidFill>
                  <a:schemeClr val="accent2"/>
                </a:solidFill>
              </a:rPr>
              <a:t>Aplicación publicada</a:t>
            </a:r>
            <a:endParaRPr lang="en-US" sz="1400" dirty="0"/>
          </a:p>
        </p:txBody>
      </p:sp>
      <p:sp>
        <p:nvSpPr>
          <p:cNvPr id="9" name="enlace-1"/>
          <p:cNvSpPr txBox="1"/>
          <p:nvPr/>
        </p:nvSpPr>
        <p:spPr>
          <a:xfrm>
            <a:off x="1508760" y="4443984"/>
            <a:ext cx="9144000" cy="411480"/>
          </a:xfrm>
          <a:prstGeom prst="rect">
            <a:avLst/>
          </a:prstGeom>
          <a:noFill/>
          <a:ln/>
        </p:spPr>
        <p:txBody>
          <a:bodyPr wrap="square" lIns="0" tIns="0" rIns="0" bIns="0" rtlCol="0" anchor="t"/>
          <a:lstStyle/>
          <a:p>
            <a:pPr indent="0" marL="0">
              <a:buNone/>
            </a:pPr>
            <a:r>
              <a:rPr lang="en-US" sz="1800" u="sng" dirty="0">
                <a:solidFill>
                  <a:schemeClr val="bg1"/>
                </a:solidFill>
                <a:hlinkClick r:id="rId4" invalidUrl="" action="" tgtFrame="" tooltip="" history="1" highlightClick="0" endSnd="0">
                  <a:extLst>
                    <a:ext uri="{A12FA001-AC4F-418D-AE19-62706E023703}">
                      <ahyp:hlinkClr xmlns:ahyp="http://schemas.microsoft.com/office/drawing/2018/hyperlinkcolor" val="tx"/>
                    </a:ext>
                  </a:extLst>
                </a:hlinkClick>
              </a:rPr>
              <a:t>https://transmetro-glvg.onrender.com</a:t>
            </a:r>
            <a:endParaRPr lang="en-US" sz="1800" dirty="0"/>
          </a:p>
        </p:txBody>
      </p:sp>
      <p:pic>
        <p:nvPicPr>
          <p:cNvPr id="10" name="icono-enlace-2" descr="Video de explicación">    </p:cNvPr>
          <p:cNvPicPr>
            <a:picLocks noChangeAspect="1"/>
          </p:cNvPicPr>
          <p:nvPr/>
        </p:nvPicPr>
        <p:blipFill>
          <a:blip r:embed="rId5"/>
          <a:stretch>
            <a:fillRect/>
          </a:stretch>
        </p:blipFill>
        <p:spPr>
          <a:xfrm>
            <a:off x="731520" y="5166360"/>
            <a:ext cx="548640" cy="548640"/>
          </a:xfrm>
          <a:prstGeom prst="rect">
            <a:avLst/>
          </a:prstGeom>
        </p:spPr>
      </p:pic>
      <p:sp>
        <p:nvSpPr>
          <p:cNvPr id="11" name="enlace-titulo-2"/>
          <p:cNvSpPr txBox="1"/>
          <p:nvPr/>
        </p:nvSpPr>
        <p:spPr>
          <a:xfrm>
            <a:off x="1508760" y="5120640"/>
            <a:ext cx="3657600" cy="320040"/>
          </a:xfrm>
          <a:prstGeom prst="rect">
            <a:avLst/>
          </a:prstGeom>
          <a:noFill/>
          <a:ln/>
        </p:spPr>
        <p:txBody>
          <a:bodyPr wrap="square" lIns="0" tIns="0" rIns="0" bIns="0" rtlCol="0" anchor="t"/>
          <a:lstStyle/>
          <a:p>
            <a:pPr indent="0" marL="0">
              <a:buNone/>
            </a:pPr>
            <a:r>
              <a:rPr lang="en-US" sz="1400" b="1" dirty="0">
                <a:solidFill>
                  <a:schemeClr val="accent2"/>
                </a:solidFill>
              </a:rPr>
              <a:t>Video de explicación</a:t>
            </a:r>
            <a:endParaRPr lang="en-US" sz="1400" dirty="0"/>
          </a:p>
        </p:txBody>
      </p:sp>
      <p:sp>
        <p:nvSpPr>
          <p:cNvPr id="12" name="enlace-2"/>
          <p:cNvSpPr txBox="1"/>
          <p:nvPr/>
        </p:nvSpPr>
        <p:spPr>
          <a:xfrm>
            <a:off x="1508760" y="5449824"/>
            <a:ext cx="9144000" cy="411480"/>
          </a:xfrm>
          <a:prstGeom prst="rect">
            <a:avLst/>
          </a:prstGeom>
          <a:noFill/>
          <a:ln/>
        </p:spPr>
        <p:txBody>
          <a:bodyPr wrap="square" lIns="0" tIns="0" rIns="0" bIns="0" rtlCol="0" anchor="t"/>
          <a:lstStyle/>
          <a:p>
            <a:pPr indent="0" marL="0">
              <a:buNone/>
            </a:pPr>
            <a:r>
              <a:rPr lang="en-US" sz="1800" dirty="0">
                <a:solidFill>
                  <a:schemeClr val="bg1"/>
                </a:solidFill>
              </a:rPr>
              <a:t>[Agregar enlace del video]</a:t>
            </a:r>
            <a:endParaRPr lang="en-US" sz="1800" dirty="0"/>
          </a:p>
        </p:txBody>
      </p:sp>
    </p:spTree>
  </p:cSld>
  <p:clrMapOvr>
    <a:masterClrMapping/>
  </p:clrMapOvr>
</p:sld>
</file>

<file path=ppt/theme/theme1.xml><?xml version="1.0" encoding="utf-8"?>
<a:theme xmlns:a="http://schemas.openxmlformats.org/drawingml/2006/main" name="Transmetro">
  <a:themeElements>
    <a:clrScheme name="Transmetro">
      <a:dk1>
        <a:srgbClr val="1F2333"/>
      </a:dk1>
      <a:lt1>
        <a:srgbClr val="FFFFFF"/>
      </a:lt1>
      <a:dk2>
        <a:srgbClr val="0B0570"/>
      </a:dk2>
      <a:lt2>
        <a:srgbClr val="F2F4F7"/>
      </a:lt2>
      <a:accent1>
        <a:srgbClr val="10069F"/>
      </a:accent1>
      <a:accent2>
        <a:srgbClr val="6CC24A"/>
      </a:accent2>
      <a:accent3>
        <a:srgbClr val="E8541E"/>
      </a:accent3>
      <a:accent4>
        <a:srgbClr val="5B2C8F"/>
      </a:accent4>
      <a:accent5>
        <a:srgbClr val="0A9BD9"/>
      </a:accent5>
      <a:accent6>
        <a:srgbClr val="B42318"/>
      </a:accent6>
      <a:hlink>
        <a:srgbClr val="10069F"/>
      </a:hlink>
      <a:folHlink>
        <a:srgbClr val="5B2C8F"/>
      </a:folHlink>
    </a:clrScheme>
    <a:fontScheme name="Transme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Transmetro - Resumen ejecutivo</dc:title>
  <dc:subject>Aseguramiento de la calidad del software</dc:subject>
  <dc:creator>Ernesto Leonardo Oliva Esquivel</dc:creator>
  <cp:lastModifiedBy>Ernesto Leonardo Oliva Esquivel</cp:lastModifiedBy>
  <cp:revision>1</cp:revision>
  <dcterms:created xsi:type="dcterms:W3CDTF">2026-10-24T03:52:03Z</dcterms:created>
  <dcterms:modified xsi:type="dcterms:W3CDTF">2026-10-24T03:52:03Z</dcterms:modified>
</cp:coreProperties>
</file>